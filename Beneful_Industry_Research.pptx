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e4ccafc-5e5d-cd3c-0c57-e227895a7747}">
          <p14:sldIdLst>
            <p14:sldId id="256"/>
            <p14:sldId id="257"/>
            <p14:sldId id="258"/>
          </p14:sldIdLst>
        </p14:section>
        <p14:section name="History" id="{dec3b3f5-b9db-61fc-163d-6572ab7bd0bc}">
          <p14:sldIdLst>
            <p14:sldId id="259"/>
          </p14:sldIdLst>
        </p14:section>
        <p14:section name="Products" id="{86d9d3b5-eb96-ee44-1dd0-a355b003c53e}">
          <p14:sldIdLst>
            <p14:sldId id="260"/>
            <p14:sldId id="261"/>
          </p14:sldIdLst>
        </p14:section>
        <p14:section name="Marketing" id="{ae4796b9-e4e5-1287-ef64-7ef7a57b560a}">
          <p14:sldIdLst>
            <p14:sldId id="262"/>
            <p14:sldId id="263"/>
            <p14:sldId id="264"/>
            <p14:sldId id="265"/>
          </p14:sldIdLst>
        </p14:section>
        <p14:section name="Conclusion" id="{3a532de5-aa51-6e45-8b83-ca33445f8f55}">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Greydan Bruckner, and today I'll be walking you through Beneful — one of Purina's best-known dog food brands. My purpose is to give you a quick but solid foundation on Beneful's history, its products, its top sellers, and how it markets to different groups of dog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question: what if you had to eat the same dinner every night for the next 20 years? That's roughly what a dog faces — about 7,300 meals over a 10-year life. Beneful was built on the idea that every one of those meals should be something a dog looks forward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First, Beneful's history. Second, the product line. Third, the top-selling flagship products. And finally, the marketing strategies Beneful uses to reach different groups of dog owners. Let's start at the beginning.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Beneful launched in 2001 under Nestlé Purina PetCare, built around three ideas: taste, nutrition, and variety. As it grew, it adapted to what owners wanted — recipes for small dogs, for weight control — and expanded beyond dry food into wet meals and treats. In 2015, Purina even launched the 'I Stand Behind Beneful' campaign, featuring the employees who make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Beneful feeds dogs three ways. Dry food is the core — Originals, IncrediBites for small dogs, Healthy Weight, and Grain Free. Wet food includes Prepared Meals stews and Chopped Blends. And treats like Baked Delights and Healthy Smile round it out. The common thread is variety: recipes tailored by size, life stage, weight, and taste.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actually sells? Beneful's flagships are Originals — the core dry recipe — IncrediBites for small dogs, and Prepared Meals wet stews. That lineup fits the market: according to Mintel, dry food is still the backbone of U.S. dog food, while more owners are adding wet food as an upgrade. Beneful covers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variety lets Beneful speak to different consumer groups. Small-dog owners get IncrediBites. Weight-conscious owners get Healthy Weight. Ingredient-focused 'pet parents' — a growing group Mintel tracks — get Grain Free. And value-minded families get Originals at the grocery store. So how does Beneful actually reach these people? Four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one is emotional marketing. Beneful's ads aren't really about kibble — they're about the bond between a dog and its owner. Research from Washington University shows dogs in ads grab attention and pass those warm feelings on to the brand. And since so many owners now see their dogs as family, that message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Strategies two and three work together. Product-focused messaging shows the proof — real meat, visible veggies, lots of variety. Digital and social media spread that message. In 2015, when critics attacked Beneful online, Purina answered with real employees and their own dogs. As one put it: 'there's no other food I would feed my pets.'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community engagement. Through the Beneful Dream Dog Park Project, communities voted for local dog parks, and winners received makeovers worth up to 500,000 dollars. Beneful also used grants and crowdfunding partnerships to help towns build parks — earning goodwill exactly where dog owners spend their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Beneful started in 2001 and grew into a broad portfolio built around variety. Its dry food, wet food, and treats — led by Originals, IncrediBites, and Prepared Meals — fit dogs of every size and need. And it wins owners through emotion, product proof, digital reach, and community. So remember those 7,300 meals — Beneful's goal is to make every one count. Thank you so much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slide — APA 7th edition, alphabetical, double-spaced with hanging indents. Includes the Mintel report from the Miami University Libraries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accent1"/>
        </a:solidFill>
      </p:bgPr>
    </p:bg>
    <p:spTree>
      <p:nvGrpSpPr>
        <p:cNvPr id="1" name=""/>
        <p:cNvGrpSpPr/>
        <p:nvPr/>
      </p:nvGrpSpPr>
      <p:grpSpPr>
        <a:xfrm>
          <a:off x="0" y="0"/>
          <a:ext cx="0" cy="0"/>
          <a:chOff x="0" y="0"/>
          <a:chExt cx="0" cy="0"/>
        </a:xfrm>
      </p:grpSpPr>
      <p:sp>
        <p:nvSpPr>
          <p:cNvPr id="2" name="Text 0"/>
          <p:cNvSpPr/>
          <p:nvPr>
            <p:ph type="pic" idx="100" hasCustomPrompt="1"/>
          </p:nvPr>
        </p:nvSpPr>
        <p:spPr>
          <a:xfrm>
            <a:off x="7818120" y="1325880"/>
            <a:ext cx="3749040" cy="3749040"/>
          </a:xfrm>
          <a:prstGeom prst="ellipse">
            <a:avLst/>
          </a:prstGeom>
          <a:noFill/>
          <a:ln/>
        </p:spPr>
        <p:txBody>
          <a:bodyPr wrap="square" rtlCol="0"/>
          <a:lstStyle>
            <a:lvl1pPr indent="0" marL="0">
              <a:buNone/>
              <a:defRPr lang="en-US" dirty="0"/>
            </a:lvl1pPr>
          </a:lstStyle>
          <a:p>
            <a:pPr indent="0" marL="0">
              <a:buNone/>
            </a:pPr>
            <a:r>
              <a:rPr lang="en-US" dirty="0">
                <a:solidFill>
                  <a:srgbClr val="000000"/>
                </a:solidFill>
              </a:rPr>
              <a:t>Click the icon to add your headshot</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300" b="1" spc="3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58368"/>
            <a:ext cx="11064240" cy="82296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0"/>
          <p:cNvSpPr/>
          <p:nvPr>
            <p:ph idx="102" type="body" hasCustomPrompt="1"/>
          </p:nvPr>
        </p:nvSpPr>
        <p:spPr>
          <a:xfrm>
            <a:off x="5669280" y="6327648"/>
            <a:ext cx="5971032" cy="320040"/>
          </a:xfrm>
          <a:prstGeom prst="rect">
            <a:avLst/>
          </a:prstGeom>
          <a:noFill/>
          <a:ln/>
        </p:spPr>
        <p:txBody>
          <a:bodyPr wrap="square" rtlCol="0"/>
          <a:lstStyle>
            <a:lvl1pPr algn="r" indent="0" marL="0">
              <a:buNone/>
              <a:defRPr lang="en-US" sz="1100" i="1" dirty="0">
                <a:solidFill>
                  <a:schemeClr val="tx2"/>
                </a:solidFill>
              </a:defRPr>
            </a:lvl1pPr>
          </a:lstStyle>
          <a:p>
            <a:pPr algn="r" indent="0" marL="0">
              <a:buNone/>
            </a:pPr>
            <a:endParaRPr lang="en-US" sz="1100" dirty="0"/>
          </a:p>
        </p:txBody>
      </p:sp>
      <p:sp>
        <p:nvSpPr>
          <p:cNvPr id="25" name="Slide Number Placeholder 0"/>
          <p:cNvSpPr>
            <a:spLocks noGrp="1"/>
          </p:cNvSpPr>
          <p:nvPr>
            <p:ph type="sldNum" sz="quarter" idx="4294967295"/>
          </p:nvPr>
        </p:nvSpPr>
        <p:spPr>
          <a:xfrm>
            <a:off x="5486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300" b="1" spc="300" kern="0"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548640" y="658368"/>
            <a:ext cx="11064240" cy="82296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0"/>
          <p:cNvSpPr/>
          <p:nvPr>
            <p:ph idx="102" type="body" hasCustomPrompt="1"/>
          </p:nvPr>
        </p:nvSpPr>
        <p:spPr>
          <a:xfrm>
            <a:off x="5669280" y="6327648"/>
            <a:ext cx="5971032" cy="320040"/>
          </a:xfrm>
          <a:prstGeom prst="rect">
            <a:avLst/>
          </a:prstGeom>
          <a:noFill/>
          <a:ln/>
        </p:spPr>
        <p:txBody>
          <a:bodyPr wrap="square" rtlCol="0"/>
          <a:lstStyle>
            <a:lvl1pPr algn="r" indent="0" marL="0">
              <a:buNone/>
              <a:defRPr lang="en-US" sz="1100" i="1" dirty="0">
                <a:solidFill>
                  <a:schemeClr val="accent2"/>
                </a:solidFill>
              </a:defRPr>
            </a:lvl1pPr>
          </a:lstStyle>
          <a:p>
            <a:pPr algn="r" indent="0" marL="0">
              <a:buNone/>
            </a:pPr>
            <a:endParaRPr lang="en-US" sz="1100" dirty="0"/>
          </a:p>
        </p:txBody>
      </p:sp>
      <p:sp>
        <p:nvSpPr>
          <p:cNvPr id="25" name="Slide Number Placeholder 0"/>
          <p:cNvSpPr>
            <a:spLocks noGrp="1"/>
          </p:cNvSpPr>
          <p:nvPr>
            <p:ph type="sldNum" sz="quarter" idx="4294967295"/>
          </p:nvPr>
        </p:nvSpPr>
        <p:spPr>
          <a:xfrm>
            <a:off x="5486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2"/>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OOK">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669280" y="6327648"/>
            <a:ext cx="5971032" cy="320040"/>
          </a:xfrm>
          <a:prstGeom prst="rect">
            <a:avLst/>
          </a:prstGeom>
          <a:noFill/>
          <a:ln/>
        </p:spPr>
        <p:txBody>
          <a:bodyPr wrap="square" rtlCol="0"/>
          <a:lstStyle>
            <a:lvl1pPr algn="r" indent="0" marL="0">
              <a:buNone/>
              <a:defRPr lang="en-US" sz="1100" i="1" dirty="0">
                <a:solidFill>
                  <a:schemeClr val="tx2"/>
                </a:solidFill>
              </a:defRPr>
            </a:lvl1pPr>
          </a:lstStyle>
          <a:p>
            <a:pPr algn="r" indent="0" marL="0">
              <a:buNone/>
            </a:pP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rse Label"/>
          <p:cNvSpPr txBox="1"/>
          <p:nvPr/>
        </p:nvSpPr>
        <p:spPr>
          <a:xfrm>
            <a:off x="685800" y="1188720"/>
            <a:ext cx="658368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BUS 102  ·  FYIC INDUSTRY RESEARCH</a:t>
            </a:r>
            <a:endParaRPr lang="en-US" sz="1400" dirty="0"/>
          </a:p>
        </p:txBody>
      </p:sp>
      <p:sp>
        <p:nvSpPr>
          <p:cNvPr id="3" name="Deck Title"/>
          <p:cNvSpPr txBox="1"/>
          <p:nvPr/>
        </p:nvSpPr>
        <p:spPr>
          <a:xfrm>
            <a:off x="685800" y="1645920"/>
            <a:ext cx="6766560" cy="1188720"/>
          </a:xfrm>
          <a:prstGeom prst="rect">
            <a:avLst/>
          </a:prstGeom>
          <a:noFill/>
          <a:ln/>
        </p:spPr>
        <p:txBody>
          <a:bodyPr wrap="square" lIns="0" tIns="0" rIns="0" bIns="0" rtlCol="0" anchor="ctr"/>
          <a:lstStyle/>
          <a:p>
            <a:pPr indent="0" marL="0">
              <a:buNone/>
            </a:pPr>
            <a:r>
              <a:rPr lang="en-US" sz="7200" b="1" dirty="0">
                <a:solidFill>
                  <a:schemeClr val="bg1"/>
                </a:solidFill>
                <a:latin typeface="Cambria" pitchFamily="34" charset="0"/>
                <a:ea typeface="Cambria" pitchFamily="34" charset="-122"/>
                <a:cs typeface="Cambria" pitchFamily="34" charset="-120"/>
              </a:rPr>
              <a:t>Beneful</a:t>
            </a:r>
            <a:endParaRPr lang="en-US" sz="7200" dirty="0"/>
          </a:p>
        </p:txBody>
      </p:sp>
      <p:sp>
        <p:nvSpPr>
          <p:cNvPr id="4" name="Subtitle"/>
          <p:cNvSpPr txBox="1"/>
          <p:nvPr/>
        </p:nvSpPr>
        <p:spPr>
          <a:xfrm>
            <a:off x="685800" y="2880360"/>
            <a:ext cx="6583680" cy="914400"/>
          </a:xfrm>
          <a:prstGeom prst="rect">
            <a:avLst/>
          </a:prstGeom>
          <a:noFill/>
          <a:ln/>
        </p:spPr>
        <p:txBody>
          <a:bodyPr wrap="square" lIns="0" tIns="0" rIns="0" bIns="0" rtlCol="0" anchor="ctr"/>
          <a:lstStyle/>
          <a:p>
            <a:pPr indent="0" marL="0">
              <a:buNone/>
            </a:pPr>
            <a:r>
              <a:rPr lang="en-US" sz="2200" dirty="0">
                <a:solidFill>
                  <a:schemeClr val="accent2"/>
                </a:solidFill>
              </a:rPr>
              <a:t>The Purina Beneful Product Line: History, Products &amp; Marketing Strategy</a:t>
            </a:r>
            <a:endParaRPr lang="en-US" sz="2200" dirty="0"/>
          </a:p>
        </p:txBody>
      </p:sp>
      <p:sp>
        <p:nvSpPr>
          <p:cNvPr id="5" name="Presenter"/>
          <p:cNvSpPr txBox="1"/>
          <p:nvPr/>
        </p:nvSpPr>
        <p:spPr>
          <a:xfrm>
            <a:off x="685800" y="4343400"/>
            <a:ext cx="5486400" cy="822960"/>
          </a:xfrm>
          <a:prstGeom prst="rect">
            <a:avLst/>
          </a:prstGeom>
          <a:noFill/>
          <a:ln/>
        </p:spPr>
        <p:txBody>
          <a:bodyPr wrap="square" lIns="0" tIns="0" rIns="0" bIns="0" rtlCol="0" anchor="ctr"/>
          <a:lstStyle/>
          <a:p>
            <a:pPr indent="0" marL="0">
              <a:spcAft>
                <a:spcPts val="400"/>
              </a:spcAft>
              <a:buNone/>
            </a:pPr>
            <a:r>
              <a:rPr lang="en-US" sz="2200" b="1" dirty="0">
                <a:solidFill>
                  <a:schemeClr val="bg1"/>
                </a:solidFill>
              </a:rPr>
              <a:t>Greydan Bruckner</a:t>
            </a:r>
            <a:endParaRPr lang="en-US" sz="2200" dirty="0"/>
          </a:p>
          <a:p>
            <a:pPr indent="0" marL="0">
              <a:spcAft>
                <a:spcPts val="400"/>
              </a:spcAft>
              <a:buNone/>
            </a:pPr>
            <a:r>
              <a:rPr lang="en-US" sz="1600" dirty="0">
                <a:solidFill>
                  <a:schemeClr val="accent2"/>
                </a:solidFill>
              </a:rPr>
              <a:t>October 2026</a:t>
            </a:r>
            <a:endParaRPr lang="en-US" sz="2200" dirty="0"/>
          </a:p>
        </p:txBody>
      </p:sp>
      <p:sp>
        <p:nvSpPr>
          <p:cNvPr id="6" name="Headshot Ring"/>
          <p:cNvSpPr/>
          <p:nvPr/>
        </p:nvSpPr>
        <p:spPr>
          <a:xfrm>
            <a:off x="7635240" y="1143000"/>
            <a:ext cx="4114800" cy="4114800"/>
          </a:xfrm>
          <a:prstGeom prst="ellipse">
            <a:avLst/>
          </a:prstGeom>
          <a:solidFill>
            <a:schemeClr val="accent4"/>
          </a:solidFill>
          <a:ln w="63500">
            <a:solidFill>
              <a:schemeClr val="bg1"/>
            </a:solidFill>
            <a:prstDash val="solid"/>
          </a:ln>
        </p:spPr>
      </p:sp>
      <p:sp>
        <p:nvSpPr>
          <p:cNvPr id="7" name="Accent Dot White"/>
          <p:cNvSpPr/>
          <p:nvPr/>
        </p:nvSpPr>
        <p:spPr>
          <a:xfrm>
            <a:off x="11658600" y="5074920"/>
            <a:ext cx="365760" cy="365760"/>
          </a:xfrm>
          <a:prstGeom prst="ellipse">
            <a:avLst/>
          </a:prstGeom>
          <a:solidFill>
            <a:schemeClr val="bg1"/>
          </a:solidFill>
          <a:ln/>
        </p:spPr>
      </p:sp>
      <p:sp>
        <p:nvSpPr>
          <p:cNvPr id="8" name="Accent Dot Pink"/>
          <p:cNvSpPr/>
          <p:nvPr/>
        </p:nvSpPr>
        <p:spPr>
          <a:xfrm>
            <a:off x="7452360" y="1234440"/>
            <a:ext cx="320040" cy="320040"/>
          </a:xfrm>
          <a:prstGeom prst="ellipse">
            <a:avLst/>
          </a:prstGeom>
          <a:solidFill>
            <a:schemeClr val="accent5"/>
          </a:solidFill>
          <a:ln/>
        </p:spPr>
      </p:sp>
      <p:pic>
        <p:nvPicPr>
          <p:cNvPr id="9" name="Paw" descr="preencoded.png">    </p:cNvPr>
          <p:cNvPicPr>
            <a:picLocks noChangeAspect="1"/>
          </p:cNvPicPr>
          <p:nvPr/>
        </p:nvPicPr>
        <p:blipFill>
          <a:blip r:embed="rId1">
            <a:alphaModFix amt="70000"/>
          </a:blip>
          <a:stretch>
            <a:fillRect/>
          </a:stretch>
        </p:blipFill>
        <p:spPr>
          <a:xfrm>
            <a:off x="9052560" y="5577840"/>
            <a:ext cx="502920" cy="502920"/>
          </a:xfrm>
          <a:prstGeom prst="rect">
            <a:avLst/>
          </a:prstGeom>
        </p:spPr>
      </p:pic>
      <p:sp>
        <p:nvSpPr>
          <p:cNvPr id="10" name="Client"/>
          <p:cNvSpPr txBox="1"/>
          <p:nvPr/>
        </p:nvSpPr>
        <p:spPr>
          <a:xfrm>
            <a:off x="9646920" y="5577840"/>
            <a:ext cx="2194560" cy="502920"/>
          </a:xfrm>
          <a:prstGeom prst="rect">
            <a:avLst/>
          </a:prstGeom>
          <a:noFill/>
          <a:ln/>
        </p:spPr>
        <p:txBody>
          <a:bodyPr wrap="square" lIns="0" tIns="0" rIns="0" bIns="0" rtlCol="0" anchor="ctr"/>
          <a:lstStyle/>
          <a:p>
            <a:pPr indent="0" marL="0">
              <a:buNone/>
            </a:pPr>
            <a:r>
              <a:rPr lang="en-US" sz="1300" dirty="0">
                <a:solidFill>
                  <a:schemeClr val="accent2"/>
                </a:solidFill>
              </a:rPr>
              <a:t>Client Partner: Purina US</a:t>
            </a:r>
            <a:endParaRPr lang="en-US" sz="1300" dirty="0"/>
          </a:p>
        </p:txBody>
      </p:sp>
      <p:sp>
        <p:nvSpPr>
          <p:cNvPr id="12" name="Text 0"/>
          <p:cNvSpPr/>
          <p:nvPr>
            <p:ph idx="100" hasCustomPrompt="1"/>
          </p:nvPr>
        </p:nvSpPr>
        <p:spPr>
          <a:xfrm>
            <a:off x="7818120" y="1325880"/>
            <a:ext cx="3749040" cy="3749040"/>
          </a:xfrm>
          <a:prstGeom prst="rect">
            <a:avLst/>
          </a:prstGeom>
          <a:noFill/>
          <a:ln/>
        </p:spPr>
        <p:txBody>
          <a:bodyPr wrap="square" rtlCol="0"/>
          <a:lstStyle/>
          <a:p>
            <a:pPr indent="0" marL="0">
              <a:buNone/>
            </a:pPr>
            <a:endParaRPr lang="en-US" dirty="0"/>
          </a:p>
        </p:txBody>
      </p:sp>
      <p:sp>
        <p:nvSpPr>
          <p:cNvPr id="900" name="Headshot" descr="Presenter headshot"/>
          <p:cNvSpPr>
            <a:spLocks noGrp="1"/>
          </p:cNvSpPr>
          <p:nvPr>
            <p:ph type="pic" idx="100"/>
          </p:nvPr>
        </p:nvSpPr>
        <p:spPr/>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ook Number"/>
          <p:cNvSpPr txBox="1"/>
          <p:nvPr/>
        </p:nvSpPr>
        <p:spPr>
          <a:xfrm>
            <a:off x="685800" y="1737360"/>
            <a:ext cx="6035040" cy="1920240"/>
          </a:xfrm>
          <a:prstGeom prst="rect">
            <a:avLst/>
          </a:prstGeom>
          <a:noFill/>
          <a:ln/>
        </p:spPr>
        <p:txBody>
          <a:bodyPr wrap="square" lIns="0" tIns="0" rIns="0" bIns="0" rtlCol="0" anchor="ctr"/>
          <a:lstStyle/>
          <a:p>
            <a:pPr indent="0" marL="0">
              <a:buNone/>
            </a:pPr>
            <a:r>
              <a:rPr lang="en-US" sz="14000" b="1" dirty="0">
                <a:solidFill>
                  <a:schemeClr val="accent1"/>
                </a:solidFill>
                <a:latin typeface="Cambria" pitchFamily="34" charset="0"/>
                <a:ea typeface="Cambria" pitchFamily="34" charset="-122"/>
                <a:cs typeface="Cambria" pitchFamily="34" charset="-120"/>
              </a:rPr>
              <a:t>7,300</a:t>
            </a:r>
            <a:endParaRPr lang="en-US" sz="14000" dirty="0"/>
          </a:p>
        </p:txBody>
      </p:sp>
      <p:sp>
        <p:nvSpPr>
          <p:cNvPr id="3" name="Hook Label"/>
          <p:cNvSpPr txBox="1"/>
          <p:nvPr/>
        </p:nvSpPr>
        <p:spPr>
          <a:xfrm>
            <a:off x="731520" y="3749040"/>
            <a:ext cx="5669280" cy="822960"/>
          </a:xfrm>
          <a:prstGeom prst="rect">
            <a:avLst/>
          </a:prstGeom>
          <a:noFill/>
          <a:ln/>
        </p:spPr>
        <p:txBody>
          <a:bodyPr wrap="square" lIns="0" tIns="0" rIns="0" bIns="0" rtlCol="0" anchor="ctr"/>
          <a:lstStyle/>
          <a:p>
            <a:pPr indent="0" marL="0">
              <a:buNone/>
            </a:pPr>
            <a:r>
              <a:rPr lang="en-US" sz="2400" dirty="0">
                <a:solidFill>
                  <a:schemeClr val="tx1"/>
                </a:solidFill>
              </a:rPr>
              <a:t>meals the average dog eats over a 10-year life*</a:t>
            </a:r>
            <a:endParaRPr lang="en-US" sz="2400" dirty="0"/>
          </a:p>
        </p:txBody>
      </p:sp>
      <p:sp>
        <p:nvSpPr>
          <p:cNvPr id="4" name="Question Card"/>
          <p:cNvSpPr/>
          <p:nvPr/>
        </p:nvSpPr>
        <p:spPr>
          <a:xfrm>
            <a:off x="7086600" y="1737360"/>
            <a:ext cx="4526280" cy="3291840"/>
          </a:xfrm>
          <a:prstGeom prst="roundRect">
            <a:avLst>
              <a:gd name="adj" fmla="val 5556"/>
            </a:avLst>
          </a:prstGeom>
          <a:solidFill>
            <a:schemeClr val="accent1"/>
          </a:solidFill>
          <a:ln/>
          <a:effectLst>
            <a:outerShdw sx="100000" sy="100000" kx="0" ky="0" algn="bl" rotWithShape="0" blurRad="101600" dist="25400" dir="5400000">
              <a:srgbClr val="000000">
                <a:alpha val="12000"/>
              </a:srgbClr>
            </a:outerShdw>
          </a:effectLst>
        </p:spPr>
      </p:sp>
      <p:sp>
        <p:nvSpPr>
          <p:cNvPr id="5" name="Dog Circle"/>
          <p:cNvSpPr/>
          <p:nvPr/>
        </p:nvSpPr>
        <p:spPr>
          <a:xfrm>
            <a:off x="7452360" y="2057400"/>
            <a:ext cx="914400" cy="914400"/>
          </a:xfrm>
          <a:prstGeom prst="ellipse">
            <a:avLst/>
          </a:prstGeom>
          <a:solidFill>
            <a:srgbClr val="FFFFFF"/>
          </a:solidFill>
          <a:ln/>
        </p:spPr>
      </p:sp>
      <p:pic>
        <p:nvPicPr>
          <p:cNvPr id="6" name="Dog Glyph" descr="preencoded.png">    </p:cNvPr>
          <p:cNvPicPr>
            <a:picLocks noChangeAspect="1"/>
          </p:cNvPicPr>
          <p:nvPr/>
        </p:nvPicPr>
        <p:blipFill>
          <a:blip r:embed="rId1"/>
          <a:stretch>
            <a:fillRect/>
          </a:stretch>
        </p:blipFill>
        <p:spPr>
          <a:xfrm>
            <a:off x="7680960" y="2286000"/>
            <a:ext cx="457200" cy="457200"/>
          </a:xfrm>
          <a:prstGeom prst="rect">
            <a:avLst/>
          </a:prstGeom>
        </p:spPr>
      </p:pic>
      <p:sp>
        <p:nvSpPr>
          <p:cNvPr id="7" name="Hook Question"/>
          <p:cNvSpPr txBox="1"/>
          <p:nvPr/>
        </p:nvSpPr>
        <p:spPr>
          <a:xfrm>
            <a:off x="7452360" y="3154680"/>
            <a:ext cx="3840480" cy="1463040"/>
          </a:xfrm>
          <a:prstGeom prst="rect">
            <a:avLst/>
          </a:prstGeom>
          <a:noFill/>
          <a:ln/>
        </p:spPr>
        <p:txBody>
          <a:bodyPr wrap="square" lIns="0" tIns="0" rIns="0" bIns="0" rtlCol="0" anchor="t"/>
          <a:lstStyle/>
          <a:p>
            <a:pPr indent="0" marL="0">
              <a:buNone/>
            </a:pPr>
            <a:r>
              <a:rPr lang="en-US" sz="2600" b="1" i="1" dirty="0">
                <a:solidFill>
                  <a:schemeClr val="bg1"/>
                </a:solidFill>
                <a:latin typeface="Cambria" pitchFamily="34" charset="0"/>
                <a:ea typeface="Cambria" pitchFamily="34" charset="-122"/>
                <a:cs typeface="Cambria" pitchFamily="34" charset="-120"/>
              </a:rPr>
              <a:t>So why should every bowl taste the same?</a:t>
            </a:r>
            <a:endParaRPr lang="en-US" sz="2600" dirty="0"/>
          </a:p>
        </p:txBody>
      </p:sp>
      <p:sp>
        <p:nvSpPr>
          <p:cNvPr id="8" name="Footnote"/>
          <p:cNvSpPr txBox="1"/>
          <p:nvPr/>
        </p:nvSpPr>
        <p:spPr>
          <a:xfrm>
            <a:off x="731520" y="6327648"/>
            <a:ext cx="4572000" cy="320040"/>
          </a:xfrm>
          <a:prstGeom prst="rect">
            <a:avLst/>
          </a:prstGeom>
          <a:noFill/>
          <a:ln/>
        </p:spPr>
        <p:txBody>
          <a:bodyPr wrap="square" lIns="0" tIns="0" rIns="0" bIns="0" rtlCol="0" anchor="ctr"/>
          <a:lstStyle/>
          <a:p>
            <a:pPr indent="0" marL="0">
              <a:buNone/>
            </a:pPr>
            <a:r>
              <a:rPr lang="en-US" sz="1100" i="1" dirty="0">
                <a:solidFill>
                  <a:schemeClr val="tx2"/>
                </a:solidFill>
              </a:rPr>
              <a:t>*2 meals a day × 365 days × 10 years</a:t>
            </a:r>
            <a:endParaRPr lang="en-US" sz="1100" dirty="0"/>
          </a:p>
        </p:txBody>
      </p:sp>
      <p:sp>
        <p:nvSpPr>
          <p:cNvPr id="9" name="Text 0"/>
          <p:cNvSpPr/>
          <p:nvPr>
            <p:ph idx="100" type="body" hasCustomPrompt="1"/>
          </p:nvPr>
        </p:nvSpPr>
        <p:spPr>
          <a:xfrm>
            <a:off x="5669280" y="6327648"/>
            <a:ext cx="5971032" cy="320040"/>
          </a:xfrm>
          <a:prstGeom prst="rect">
            <a:avLst/>
          </a:prstGeom>
          <a:noFill/>
          <a:ln/>
        </p:spPr>
        <p:txBody>
          <a:bodyPr wrap="square" lIns="0" tIns="0" rIns="0" bIns="0" rtlCol="0" anchor="ctr"/>
          <a:lstStyle/>
          <a:p>
            <a:pPr algn="r" indent="0" marL="0">
              <a:buNone/>
            </a:pPr>
            <a:r>
              <a:rPr lang="en-US" sz="1100" i="1" dirty="0">
                <a:solidFill>
                  <a:schemeClr val="tx2"/>
                </a:solidFill>
              </a:rPr>
              <a:t>Source: (Purina, n.d.)</a:t>
            </a:r>
            <a:endParaRPr lang="en-US" sz="11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ROADMAP</a:t>
            </a:r>
            <a:endParaRPr lang="en-US" sz="13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Today’s Roadmap</a:t>
            </a:r>
            <a:endParaRPr lang="en-US" sz="3600" dirty="0"/>
          </a:p>
        </p:txBody>
      </p:sp>
      <p:sp>
        <p:nvSpPr>
          <p:cNvPr id="4" name="Text 0"/>
          <p:cNvSpPr/>
          <p:nvPr>
            <p:ph idx="102" type="body" hasCustomPrompt="1"/>
          </p:nvPr>
        </p:nvSpPr>
        <p:spPr>
          <a:xfrm>
            <a:off x="5669280" y="6327648"/>
            <a:ext cx="5971032" cy="320040"/>
          </a:xfrm>
          <a:prstGeom prst="rect">
            <a:avLst/>
          </a:prstGeom>
          <a:noFill/>
          <a:ln/>
        </p:spPr>
        <p:txBody>
          <a:bodyPr wrap="square" lIns="0" tIns="0" rIns="0" bIns="0" rtlCol="0" anchor="ctr"/>
          <a:lstStyle/>
          <a:p>
            <a:pPr algn="r" indent="0" marL="0">
              <a:buNone/>
            </a:pPr>
            <a:r>
              <a:rPr lang="en-US" sz="1100" i="1" dirty="0">
                <a:solidFill>
                  <a:schemeClr val="tx2"/>
                </a:solidFill>
              </a:rPr>
              <a:t>Source: (Purina, n.d.)</a:t>
            </a:r>
            <a:endParaRPr lang="en-US" sz="1100" dirty="0"/>
          </a:p>
        </p:txBody>
      </p:sp>
      <p:sp>
        <p:nvSpPr>
          <p:cNvPr id="5" name="Agenda Card 01"/>
          <p:cNvSpPr/>
          <p:nvPr/>
        </p:nvSpPr>
        <p:spPr>
          <a:xfrm>
            <a:off x="548640" y="1828800"/>
            <a:ext cx="2514600" cy="3840480"/>
          </a:xfrm>
          <a:prstGeom prst="roundRect">
            <a:avLst>
              <a:gd name="adj" fmla="val 5455"/>
            </a:avLst>
          </a:prstGeom>
          <a:solidFill>
            <a:schemeClr val="bg2"/>
          </a:solidFill>
          <a:ln/>
        </p:spPr>
      </p:sp>
      <p:sp>
        <p:nvSpPr>
          <p:cNvPr id="6" name="Agenda 01 Circle"/>
          <p:cNvSpPr/>
          <p:nvPr/>
        </p:nvSpPr>
        <p:spPr>
          <a:xfrm>
            <a:off x="868680" y="2148840"/>
            <a:ext cx="914400" cy="914400"/>
          </a:xfrm>
          <a:prstGeom prst="ellipse">
            <a:avLst/>
          </a:prstGeom>
          <a:solidFill>
            <a:srgbClr val="C8102E"/>
          </a:solidFill>
          <a:ln/>
        </p:spPr>
      </p:sp>
      <p:pic>
        <p:nvPicPr>
          <p:cNvPr id="7" name="Agenda 01 Glyph" descr="preencoded.png">    </p:cNvPr>
          <p:cNvPicPr>
            <a:picLocks noChangeAspect="1"/>
          </p:cNvPicPr>
          <p:nvPr/>
        </p:nvPicPr>
        <p:blipFill>
          <a:blip r:embed="rId1"/>
          <a:stretch>
            <a:fillRect/>
          </a:stretch>
        </p:blipFill>
        <p:spPr>
          <a:xfrm>
            <a:off x="1097280" y="2377440"/>
            <a:ext cx="457200" cy="457200"/>
          </a:xfrm>
          <a:prstGeom prst="rect">
            <a:avLst/>
          </a:prstGeom>
        </p:spPr>
      </p:pic>
      <p:sp>
        <p:nvSpPr>
          <p:cNvPr id="8" name="Agenda Num 01"/>
          <p:cNvSpPr txBox="1"/>
          <p:nvPr/>
        </p:nvSpPr>
        <p:spPr>
          <a:xfrm>
            <a:off x="2011680" y="2148840"/>
            <a:ext cx="731520" cy="548640"/>
          </a:xfrm>
          <a:prstGeom prst="rect">
            <a:avLst/>
          </a:prstGeom>
          <a:noFill/>
          <a:ln/>
        </p:spPr>
        <p:txBody>
          <a:bodyPr wrap="square" lIns="0" tIns="0" rIns="0" bIns="0" rtlCol="0" anchor="ctr"/>
          <a:lstStyle/>
          <a:p>
            <a:pPr algn="r" indent="0" marL="0">
              <a:buNone/>
            </a:pPr>
            <a:r>
              <a:rPr lang="en-US" sz="2800" b="1" dirty="0">
                <a:solidFill>
                  <a:schemeClr val="accent1"/>
                </a:solidFill>
                <a:latin typeface="Cambria" pitchFamily="34" charset="0"/>
                <a:ea typeface="Cambria" pitchFamily="34" charset="-122"/>
                <a:cs typeface="Cambria" pitchFamily="34" charset="-120"/>
              </a:rPr>
              <a:t>01</a:t>
            </a:r>
            <a:endParaRPr lang="en-US" sz="2800" dirty="0"/>
          </a:p>
        </p:txBody>
      </p:sp>
      <p:sp>
        <p:nvSpPr>
          <p:cNvPr id="9" name="Agenda Title 01"/>
          <p:cNvSpPr txBox="1"/>
          <p:nvPr/>
        </p:nvSpPr>
        <p:spPr>
          <a:xfrm>
            <a:off x="868680" y="3337560"/>
            <a:ext cx="1874520" cy="50292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History</a:t>
            </a:r>
            <a:endParaRPr lang="en-US" sz="2400" dirty="0"/>
          </a:p>
        </p:txBody>
      </p:sp>
      <p:sp>
        <p:nvSpPr>
          <p:cNvPr id="10" name="Agenda Desc 01"/>
          <p:cNvSpPr txBox="1"/>
          <p:nvPr/>
        </p:nvSpPr>
        <p:spPr>
          <a:xfrm>
            <a:off x="868680" y="3931920"/>
            <a:ext cx="1874520" cy="1280160"/>
          </a:xfrm>
          <a:prstGeom prst="rect">
            <a:avLst/>
          </a:prstGeom>
          <a:noFill/>
          <a:ln/>
        </p:spPr>
        <p:txBody>
          <a:bodyPr wrap="square" lIns="0" tIns="0" rIns="0" bIns="0" rtlCol="0" anchor="t"/>
          <a:lstStyle/>
          <a:p>
            <a:pPr indent="0" marL="0">
              <a:buNone/>
            </a:pPr>
            <a:r>
              <a:rPr lang="en-US" sz="1600" dirty="0">
                <a:solidFill>
                  <a:schemeClr val="tx2"/>
                </a:solidFill>
              </a:rPr>
              <a:t>From a 2001 launch to a household name</a:t>
            </a:r>
            <a:endParaRPr lang="en-US" sz="1600" dirty="0"/>
          </a:p>
        </p:txBody>
      </p:sp>
      <p:sp>
        <p:nvSpPr>
          <p:cNvPr id="11" name="Agenda Card 02"/>
          <p:cNvSpPr/>
          <p:nvPr/>
        </p:nvSpPr>
        <p:spPr>
          <a:xfrm>
            <a:off x="3398825" y="1828800"/>
            <a:ext cx="2514600" cy="3840480"/>
          </a:xfrm>
          <a:prstGeom prst="roundRect">
            <a:avLst>
              <a:gd name="adj" fmla="val 5455"/>
            </a:avLst>
          </a:prstGeom>
          <a:solidFill>
            <a:schemeClr val="bg2"/>
          </a:solidFill>
          <a:ln/>
        </p:spPr>
      </p:sp>
      <p:sp>
        <p:nvSpPr>
          <p:cNvPr id="12" name="Agenda 02 Circle"/>
          <p:cNvSpPr/>
          <p:nvPr/>
        </p:nvSpPr>
        <p:spPr>
          <a:xfrm>
            <a:off x="3718865" y="2148840"/>
            <a:ext cx="914400" cy="914400"/>
          </a:xfrm>
          <a:prstGeom prst="ellipse">
            <a:avLst/>
          </a:prstGeom>
          <a:solidFill>
            <a:srgbClr val="8E0C20"/>
          </a:solidFill>
          <a:ln/>
        </p:spPr>
      </p:sp>
      <p:pic>
        <p:nvPicPr>
          <p:cNvPr id="13" name="Agenda 02 Glyph" descr="preencoded.png">    </p:cNvPr>
          <p:cNvPicPr>
            <a:picLocks noChangeAspect="1"/>
          </p:cNvPicPr>
          <p:nvPr/>
        </p:nvPicPr>
        <p:blipFill>
          <a:blip r:embed="rId2"/>
          <a:stretch>
            <a:fillRect/>
          </a:stretch>
        </p:blipFill>
        <p:spPr>
          <a:xfrm>
            <a:off x="3947465" y="2377440"/>
            <a:ext cx="457200" cy="457200"/>
          </a:xfrm>
          <a:prstGeom prst="rect">
            <a:avLst/>
          </a:prstGeom>
        </p:spPr>
      </p:pic>
      <p:sp>
        <p:nvSpPr>
          <p:cNvPr id="14" name="Agenda Num 02"/>
          <p:cNvSpPr txBox="1"/>
          <p:nvPr/>
        </p:nvSpPr>
        <p:spPr>
          <a:xfrm>
            <a:off x="4861865" y="2148840"/>
            <a:ext cx="731520" cy="548640"/>
          </a:xfrm>
          <a:prstGeom prst="rect">
            <a:avLst/>
          </a:prstGeom>
          <a:noFill/>
          <a:ln/>
        </p:spPr>
        <p:txBody>
          <a:bodyPr wrap="square" lIns="0" tIns="0" rIns="0" bIns="0" rtlCol="0" anchor="ctr"/>
          <a:lstStyle/>
          <a:p>
            <a:pPr algn="r" indent="0" marL="0">
              <a:buNone/>
            </a:pPr>
            <a:r>
              <a:rPr lang="en-US" sz="2800" b="1" dirty="0">
                <a:solidFill>
                  <a:schemeClr val="accent1"/>
                </a:solidFill>
                <a:latin typeface="Cambria" pitchFamily="34" charset="0"/>
                <a:ea typeface="Cambria" pitchFamily="34" charset="-122"/>
                <a:cs typeface="Cambria" pitchFamily="34" charset="-120"/>
              </a:rPr>
              <a:t>02</a:t>
            </a:r>
            <a:endParaRPr lang="en-US" sz="2800" dirty="0"/>
          </a:p>
        </p:txBody>
      </p:sp>
      <p:sp>
        <p:nvSpPr>
          <p:cNvPr id="15" name="Agenda Title 02"/>
          <p:cNvSpPr txBox="1"/>
          <p:nvPr/>
        </p:nvSpPr>
        <p:spPr>
          <a:xfrm>
            <a:off x="3718865" y="3337560"/>
            <a:ext cx="1874520" cy="50292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Products</a:t>
            </a:r>
            <a:endParaRPr lang="en-US" sz="2400" dirty="0"/>
          </a:p>
        </p:txBody>
      </p:sp>
      <p:sp>
        <p:nvSpPr>
          <p:cNvPr id="16" name="Agenda Desc 02"/>
          <p:cNvSpPr txBox="1"/>
          <p:nvPr/>
        </p:nvSpPr>
        <p:spPr>
          <a:xfrm>
            <a:off x="3718865" y="3931920"/>
            <a:ext cx="1874520" cy="1280160"/>
          </a:xfrm>
          <a:prstGeom prst="rect">
            <a:avLst/>
          </a:prstGeom>
          <a:noFill/>
          <a:ln/>
        </p:spPr>
        <p:txBody>
          <a:bodyPr wrap="square" lIns="0" tIns="0" rIns="0" bIns="0" rtlCol="0" anchor="t"/>
          <a:lstStyle/>
          <a:p>
            <a:pPr indent="0" marL="0">
              <a:buNone/>
            </a:pPr>
            <a:r>
              <a:rPr lang="en-US" sz="1600" dirty="0">
                <a:solidFill>
                  <a:schemeClr val="tx2"/>
                </a:solidFill>
              </a:rPr>
              <a:t>Dry food, wet food &amp; treats for every dog</a:t>
            </a:r>
            <a:endParaRPr lang="en-US" sz="1600" dirty="0"/>
          </a:p>
        </p:txBody>
      </p:sp>
      <p:sp>
        <p:nvSpPr>
          <p:cNvPr id="17" name="Agenda Card 03"/>
          <p:cNvSpPr/>
          <p:nvPr/>
        </p:nvSpPr>
        <p:spPr>
          <a:xfrm>
            <a:off x="6249010" y="1828800"/>
            <a:ext cx="2514600" cy="3840480"/>
          </a:xfrm>
          <a:prstGeom prst="roundRect">
            <a:avLst>
              <a:gd name="adj" fmla="val 5455"/>
            </a:avLst>
          </a:prstGeom>
          <a:solidFill>
            <a:schemeClr val="bg2"/>
          </a:solidFill>
          <a:ln/>
        </p:spPr>
      </p:sp>
      <p:sp>
        <p:nvSpPr>
          <p:cNvPr id="18" name="Agenda 03 Circle"/>
          <p:cNvSpPr/>
          <p:nvPr/>
        </p:nvSpPr>
        <p:spPr>
          <a:xfrm>
            <a:off x="6569050" y="2148840"/>
            <a:ext cx="914400" cy="914400"/>
          </a:xfrm>
          <a:prstGeom prst="ellipse">
            <a:avLst/>
          </a:prstGeom>
          <a:solidFill>
            <a:srgbClr val="C8102E"/>
          </a:solidFill>
          <a:ln/>
        </p:spPr>
      </p:sp>
      <p:pic>
        <p:nvPicPr>
          <p:cNvPr id="19" name="Agenda 03 Glyph" descr="preencoded.png">    </p:cNvPr>
          <p:cNvPicPr>
            <a:picLocks noChangeAspect="1"/>
          </p:cNvPicPr>
          <p:nvPr/>
        </p:nvPicPr>
        <p:blipFill>
          <a:blip r:embed="rId3"/>
          <a:stretch>
            <a:fillRect/>
          </a:stretch>
        </p:blipFill>
        <p:spPr>
          <a:xfrm>
            <a:off x="6797650" y="2377440"/>
            <a:ext cx="457200" cy="457200"/>
          </a:xfrm>
          <a:prstGeom prst="rect">
            <a:avLst/>
          </a:prstGeom>
        </p:spPr>
      </p:pic>
      <p:sp>
        <p:nvSpPr>
          <p:cNvPr id="20" name="Agenda Num 03"/>
          <p:cNvSpPr txBox="1"/>
          <p:nvPr/>
        </p:nvSpPr>
        <p:spPr>
          <a:xfrm>
            <a:off x="7712050" y="2148840"/>
            <a:ext cx="731520" cy="548640"/>
          </a:xfrm>
          <a:prstGeom prst="rect">
            <a:avLst/>
          </a:prstGeom>
          <a:noFill/>
          <a:ln/>
        </p:spPr>
        <p:txBody>
          <a:bodyPr wrap="square" lIns="0" tIns="0" rIns="0" bIns="0" rtlCol="0" anchor="ctr"/>
          <a:lstStyle/>
          <a:p>
            <a:pPr algn="r" indent="0" marL="0">
              <a:buNone/>
            </a:pPr>
            <a:r>
              <a:rPr lang="en-US" sz="2800" b="1" dirty="0">
                <a:solidFill>
                  <a:schemeClr val="accent1"/>
                </a:solidFill>
                <a:latin typeface="Cambria" pitchFamily="34" charset="0"/>
                <a:ea typeface="Cambria" pitchFamily="34" charset="-122"/>
                <a:cs typeface="Cambria" pitchFamily="34" charset="-120"/>
              </a:rPr>
              <a:t>03</a:t>
            </a:r>
            <a:endParaRPr lang="en-US" sz="2800" dirty="0"/>
          </a:p>
        </p:txBody>
      </p:sp>
      <p:sp>
        <p:nvSpPr>
          <p:cNvPr id="21" name="Agenda Title 03"/>
          <p:cNvSpPr txBox="1"/>
          <p:nvPr/>
        </p:nvSpPr>
        <p:spPr>
          <a:xfrm>
            <a:off x="6569050" y="3337560"/>
            <a:ext cx="1874520" cy="50292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Top Sellers</a:t>
            </a:r>
            <a:endParaRPr lang="en-US" sz="2400" dirty="0"/>
          </a:p>
        </p:txBody>
      </p:sp>
      <p:sp>
        <p:nvSpPr>
          <p:cNvPr id="22" name="Agenda Desc 03"/>
          <p:cNvSpPr txBox="1"/>
          <p:nvPr/>
        </p:nvSpPr>
        <p:spPr>
          <a:xfrm>
            <a:off x="6569050" y="3931920"/>
            <a:ext cx="1874520" cy="1280160"/>
          </a:xfrm>
          <a:prstGeom prst="rect">
            <a:avLst/>
          </a:prstGeom>
          <a:noFill/>
          <a:ln/>
        </p:spPr>
        <p:txBody>
          <a:bodyPr wrap="square" lIns="0" tIns="0" rIns="0" bIns="0" rtlCol="0" anchor="t"/>
          <a:lstStyle/>
          <a:p>
            <a:pPr indent="0" marL="0">
              <a:buNone/>
            </a:pPr>
            <a:r>
              <a:rPr lang="en-US" sz="1600" dirty="0">
                <a:solidFill>
                  <a:schemeClr val="tx2"/>
                </a:solidFill>
              </a:rPr>
              <a:t>The flagship products driving the brand</a:t>
            </a:r>
            <a:endParaRPr lang="en-US" sz="1600" dirty="0"/>
          </a:p>
        </p:txBody>
      </p:sp>
      <p:sp>
        <p:nvSpPr>
          <p:cNvPr id="23" name="Agenda Card 04"/>
          <p:cNvSpPr/>
          <p:nvPr/>
        </p:nvSpPr>
        <p:spPr>
          <a:xfrm>
            <a:off x="9099194" y="1828800"/>
            <a:ext cx="2514600" cy="3840480"/>
          </a:xfrm>
          <a:prstGeom prst="roundRect">
            <a:avLst>
              <a:gd name="adj" fmla="val 5455"/>
            </a:avLst>
          </a:prstGeom>
          <a:solidFill>
            <a:schemeClr val="bg2"/>
          </a:solidFill>
          <a:ln/>
        </p:spPr>
      </p:sp>
      <p:sp>
        <p:nvSpPr>
          <p:cNvPr id="24" name="Agenda 04 Circle"/>
          <p:cNvSpPr/>
          <p:nvPr/>
        </p:nvSpPr>
        <p:spPr>
          <a:xfrm>
            <a:off x="9419234" y="2148840"/>
            <a:ext cx="914400" cy="914400"/>
          </a:xfrm>
          <a:prstGeom prst="ellipse">
            <a:avLst/>
          </a:prstGeom>
          <a:solidFill>
            <a:srgbClr val="8E0C20"/>
          </a:solidFill>
          <a:ln/>
        </p:spPr>
      </p:sp>
      <p:pic>
        <p:nvPicPr>
          <p:cNvPr id="25" name="Agenda 04 Glyph" descr="preencoded.png">    </p:cNvPr>
          <p:cNvPicPr>
            <a:picLocks noChangeAspect="1"/>
          </p:cNvPicPr>
          <p:nvPr/>
        </p:nvPicPr>
        <p:blipFill>
          <a:blip r:embed="rId4"/>
          <a:stretch>
            <a:fillRect/>
          </a:stretch>
        </p:blipFill>
        <p:spPr>
          <a:xfrm>
            <a:off x="9647834" y="2377440"/>
            <a:ext cx="457200" cy="457200"/>
          </a:xfrm>
          <a:prstGeom prst="rect">
            <a:avLst/>
          </a:prstGeom>
        </p:spPr>
      </p:pic>
      <p:sp>
        <p:nvSpPr>
          <p:cNvPr id="26" name="Agenda Num 04"/>
          <p:cNvSpPr txBox="1"/>
          <p:nvPr/>
        </p:nvSpPr>
        <p:spPr>
          <a:xfrm>
            <a:off x="10562234" y="2148840"/>
            <a:ext cx="731520" cy="548640"/>
          </a:xfrm>
          <a:prstGeom prst="rect">
            <a:avLst/>
          </a:prstGeom>
          <a:noFill/>
          <a:ln/>
        </p:spPr>
        <p:txBody>
          <a:bodyPr wrap="square" lIns="0" tIns="0" rIns="0" bIns="0" rtlCol="0" anchor="ctr"/>
          <a:lstStyle/>
          <a:p>
            <a:pPr algn="r" indent="0" marL="0">
              <a:buNone/>
            </a:pPr>
            <a:r>
              <a:rPr lang="en-US" sz="2800" b="1" dirty="0">
                <a:solidFill>
                  <a:schemeClr val="accent1"/>
                </a:solidFill>
                <a:latin typeface="Cambria" pitchFamily="34" charset="0"/>
                <a:ea typeface="Cambria" pitchFamily="34" charset="-122"/>
                <a:cs typeface="Cambria" pitchFamily="34" charset="-120"/>
              </a:rPr>
              <a:t>04</a:t>
            </a:r>
            <a:endParaRPr lang="en-US" sz="2800" dirty="0"/>
          </a:p>
        </p:txBody>
      </p:sp>
      <p:sp>
        <p:nvSpPr>
          <p:cNvPr id="27" name="Agenda Title 04"/>
          <p:cNvSpPr txBox="1"/>
          <p:nvPr/>
        </p:nvSpPr>
        <p:spPr>
          <a:xfrm>
            <a:off x="9419234" y="3337560"/>
            <a:ext cx="1874520" cy="50292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Marketing</a:t>
            </a:r>
            <a:endParaRPr lang="en-US" sz="2400" dirty="0"/>
          </a:p>
        </p:txBody>
      </p:sp>
      <p:sp>
        <p:nvSpPr>
          <p:cNvPr id="28" name="Agenda Desc 04"/>
          <p:cNvSpPr txBox="1"/>
          <p:nvPr/>
        </p:nvSpPr>
        <p:spPr>
          <a:xfrm>
            <a:off x="9419234" y="3931920"/>
            <a:ext cx="1874520" cy="1280160"/>
          </a:xfrm>
          <a:prstGeom prst="rect">
            <a:avLst/>
          </a:prstGeom>
          <a:noFill/>
          <a:ln/>
        </p:spPr>
        <p:txBody>
          <a:bodyPr wrap="square" lIns="0" tIns="0" rIns="0" bIns="0" rtlCol="0" anchor="t"/>
          <a:lstStyle/>
          <a:p>
            <a:pPr indent="0" marL="0">
              <a:buNone/>
            </a:pPr>
            <a:r>
              <a:rPr lang="en-US" sz="1600" dirty="0">
                <a:solidFill>
                  <a:schemeClr val="tx2"/>
                </a:solidFill>
              </a:rPr>
              <a:t>How Beneful reaches each consumer group</a:t>
            </a:r>
            <a:endParaRPr lang="en-US" sz="1600" dirty="0"/>
          </a:p>
        </p:txBody>
      </p:sp>
      <p:sp>
        <p:nvSpPr>
          <p:cNvPr id="25" name="Slide Number Placeholder 0"/>
          <p:cNvSpPr>
            <a:spLocks noGrp="1"/>
          </p:cNvSpPr>
          <p:nvPr>
            <p:ph type="sldNum" sz="quarter" idx="4294967295"/>
          </p:nvPr>
        </p:nvSpPr>
        <p:spPr>
          <a:xfrm>
            <a:off x="5486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transition spd="med">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01  ·  HISTORY</a:t>
            </a:r>
            <a:endParaRPr lang="en-US" sz="13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 Brand Built on Taste, Nutrition &amp; Variety</a:t>
            </a:r>
            <a:endParaRPr lang="en-US" sz="3600" dirty="0"/>
          </a:p>
        </p:txBody>
      </p:sp>
      <p:sp>
        <p:nvSpPr>
          <p:cNvPr id="4" name="Text 0"/>
          <p:cNvSpPr/>
          <p:nvPr>
            <p:ph idx="102" type="body" hasCustomPrompt="1"/>
          </p:nvPr>
        </p:nvSpPr>
        <p:spPr>
          <a:xfrm>
            <a:off x="5669280" y="6327648"/>
            <a:ext cx="5971032" cy="320040"/>
          </a:xfrm>
          <a:prstGeom prst="rect">
            <a:avLst/>
          </a:prstGeom>
          <a:noFill/>
          <a:ln/>
        </p:spPr>
        <p:txBody>
          <a:bodyPr wrap="square" lIns="0" tIns="0" rIns="0" bIns="0" rtlCol="0" anchor="ctr"/>
          <a:lstStyle/>
          <a:p>
            <a:pPr algn="r" indent="0" marL="0">
              <a:buNone/>
            </a:pPr>
            <a:r>
              <a:rPr lang="en-US" sz="1100" i="1" dirty="0">
                <a:solidFill>
                  <a:schemeClr val="tx2"/>
                </a:solidFill>
              </a:rPr>
              <a:t>Source: (Purina, n.d.; “Purina Launches,” 2015)</a:t>
            </a:r>
            <a:endParaRPr lang="en-US" sz="1100" dirty="0"/>
          </a:p>
        </p:txBody>
      </p:sp>
      <p:sp>
        <p:nvSpPr>
          <p:cNvPr id="5" name="Timeline"/>
          <p:cNvSpPr/>
          <p:nvPr/>
        </p:nvSpPr>
        <p:spPr>
          <a:xfrm>
            <a:off x="1280160" y="2697480"/>
            <a:ext cx="9601200" cy="0"/>
          </a:xfrm>
          <a:prstGeom prst="line">
            <a:avLst/>
          </a:prstGeom>
          <a:noFill/>
          <a:ln w="38100">
            <a:solidFill>
              <a:schemeClr val="accent5"/>
            </a:solidFill>
            <a:prstDash val="solid"/>
          </a:ln>
        </p:spPr>
      </p:sp>
      <p:sp>
        <p:nvSpPr>
          <p:cNvPr id="6" name="Milestone When 1"/>
          <p:cNvSpPr txBox="1"/>
          <p:nvPr/>
        </p:nvSpPr>
        <p:spPr>
          <a:xfrm>
            <a:off x="548640" y="1691640"/>
            <a:ext cx="2514600" cy="411480"/>
          </a:xfrm>
          <a:prstGeom prst="rect">
            <a:avLst/>
          </a:prstGeom>
          <a:noFill/>
          <a:ln/>
        </p:spPr>
        <p:txBody>
          <a:bodyPr wrap="square" lIns="0" tIns="0" rIns="0" bIns="0" rtlCol="0" anchor="ctr"/>
          <a:lstStyle/>
          <a:p>
            <a:pPr algn="ctr" indent="0" marL="0">
              <a:buNone/>
            </a:pPr>
            <a:r>
              <a:rPr lang="en-US" sz="2000" b="1" dirty="0">
                <a:solidFill>
                  <a:schemeClr val="accent1"/>
                </a:solidFill>
                <a:latin typeface="Cambria" pitchFamily="34" charset="0"/>
                <a:ea typeface="Cambria" pitchFamily="34" charset="-122"/>
                <a:cs typeface="Cambria" pitchFamily="34" charset="-120"/>
              </a:rPr>
              <a:t>2001</a:t>
            </a:r>
            <a:endParaRPr lang="en-US" sz="2000" dirty="0"/>
          </a:p>
        </p:txBody>
      </p:sp>
      <p:sp>
        <p:nvSpPr>
          <p:cNvPr id="7" name="Milestone 1 Circle"/>
          <p:cNvSpPr/>
          <p:nvPr/>
        </p:nvSpPr>
        <p:spPr>
          <a:xfrm>
            <a:off x="1348740" y="2240280"/>
            <a:ext cx="914400" cy="914400"/>
          </a:xfrm>
          <a:prstGeom prst="ellipse">
            <a:avLst/>
          </a:prstGeom>
          <a:solidFill>
            <a:srgbClr val="C8102E"/>
          </a:solidFill>
          <a:ln/>
        </p:spPr>
      </p:sp>
      <p:pic>
        <p:nvPicPr>
          <p:cNvPr id="8" name="Milestone 1 Glyph" descr="preencoded.png">    </p:cNvPr>
          <p:cNvPicPr>
            <a:picLocks noChangeAspect="1"/>
          </p:cNvPicPr>
          <p:nvPr/>
        </p:nvPicPr>
        <p:blipFill>
          <a:blip r:embed="rId1"/>
          <a:stretch>
            <a:fillRect/>
          </a:stretch>
        </p:blipFill>
        <p:spPr>
          <a:xfrm>
            <a:off x="1577340" y="2468880"/>
            <a:ext cx="457200" cy="457200"/>
          </a:xfrm>
          <a:prstGeom prst="rect">
            <a:avLst/>
          </a:prstGeom>
        </p:spPr>
      </p:pic>
      <p:sp>
        <p:nvSpPr>
          <p:cNvPr id="9" name="Milestone Card 1"/>
          <p:cNvSpPr/>
          <p:nvPr/>
        </p:nvSpPr>
        <p:spPr>
          <a:xfrm>
            <a:off x="548640" y="3520440"/>
            <a:ext cx="2514600" cy="2331720"/>
          </a:xfrm>
          <a:prstGeom prst="roundRect">
            <a:avLst>
              <a:gd name="adj" fmla="val 4706"/>
            </a:avLst>
          </a:prstGeom>
          <a:solidFill>
            <a:schemeClr val="bg2"/>
          </a:solidFill>
          <a:ln/>
        </p:spPr>
      </p:sp>
      <p:sp>
        <p:nvSpPr>
          <p:cNvPr id="10" name="Milestone Title 1"/>
          <p:cNvSpPr txBox="1"/>
          <p:nvPr/>
        </p:nvSpPr>
        <p:spPr>
          <a:xfrm>
            <a:off x="777240" y="3703320"/>
            <a:ext cx="2057400" cy="411480"/>
          </a:xfrm>
          <a:prstGeom prst="rect">
            <a:avLst/>
          </a:prstGeom>
          <a:noFill/>
          <a:ln/>
        </p:spPr>
        <p:txBody>
          <a:bodyPr wrap="square" lIns="0" tIns="0" rIns="0" bIns="0" rtlCol="0" anchor="ctr"/>
          <a:lstStyle/>
          <a:p>
            <a:pPr indent="0" marL="0">
              <a:buNone/>
            </a:pPr>
            <a:r>
              <a:rPr lang="en-US" sz="1800" b="1" dirty="0">
                <a:solidFill>
                  <a:schemeClr val="tx1"/>
                </a:solidFill>
              </a:rPr>
              <a:t>Launch</a:t>
            </a:r>
            <a:endParaRPr lang="en-US" sz="1800" dirty="0"/>
          </a:p>
        </p:txBody>
      </p:sp>
      <p:sp>
        <p:nvSpPr>
          <p:cNvPr id="11" name="Milestone Desc 1"/>
          <p:cNvSpPr txBox="1"/>
          <p:nvPr/>
        </p:nvSpPr>
        <p:spPr>
          <a:xfrm>
            <a:off x="777240" y="4160520"/>
            <a:ext cx="2057400" cy="1554480"/>
          </a:xfrm>
          <a:prstGeom prst="rect">
            <a:avLst/>
          </a:prstGeom>
          <a:noFill/>
          <a:ln/>
        </p:spPr>
        <p:txBody>
          <a:bodyPr wrap="square" lIns="0" tIns="0" rIns="0" bIns="0" rtlCol="0" anchor="t"/>
          <a:lstStyle/>
          <a:p>
            <a:pPr indent="0" marL="0">
              <a:buNone/>
            </a:pPr>
            <a:r>
              <a:rPr lang="en-US" sz="1500" dirty="0">
                <a:solidFill>
                  <a:schemeClr val="tx2"/>
                </a:solidFill>
              </a:rPr>
              <a:t>Nestlé Purina PetCare introduces Beneful, centered on taste, nutrition &amp; variety</a:t>
            </a:r>
            <a:endParaRPr lang="en-US" sz="1500" dirty="0"/>
          </a:p>
        </p:txBody>
      </p:sp>
      <p:sp>
        <p:nvSpPr>
          <p:cNvPr id="12" name="Milestone When 2"/>
          <p:cNvSpPr txBox="1"/>
          <p:nvPr/>
        </p:nvSpPr>
        <p:spPr>
          <a:xfrm>
            <a:off x="3398825" y="1691640"/>
            <a:ext cx="2514600" cy="411480"/>
          </a:xfrm>
          <a:prstGeom prst="rect">
            <a:avLst/>
          </a:prstGeom>
          <a:noFill/>
          <a:ln/>
        </p:spPr>
        <p:txBody>
          <a:bodyPr wrap="square" lIns="0" tIns="0" rIns="0" bIns="0" rtlCol="0" anchor="ctr"/>
          <a:lstStyle/>
          <a:p>
            <a:pPr algn="ctr" indent="0" marL="0">
              <a:buNone/>
            </a:pPr>
            <a:r>
              <a:rPr lang="en-US" sz="2000" b="1" dirty="0">
                <a:solidFill>
                  <a:schemeClr val="accent1"/>
                </a:solidFill>
                <a:latin typeface="Cambria" pitchFamily="34" charset="0"/>
                <a:ea typeface="Cambria" pitchFamily="34" charset="-122"/>
                <a:cs typeface="Cambria" pitchFamily="34" charset="-120"/>
              </a:rPr>
              <a:t>Growth</a:t>
            </a:r>
            <a:endParaRPr lang="en-US" sz="2000" dirty="0"/>
          </a:p>
        </p:txBody>
      </p:sp>
      <p:sp>
        <p:nvSpPr>
          <p:cNvPr id="13" name="Milestone 2 Circle"/>
          <p:cNvSpPr/>
          <p:nvPr/>
        </p:nvSpPr>
        <p:spPr>
          <a:xfrm>
            <a:off x="4198925" y="2240280"/>
            <a:ext cx="914400" cy="914400"/>
          </a:xfrm>
          <a:prstGeom prst="ellipse">
            <a:avLst/>
          </a:prstGeom>
          <a:solidFill>
            <a:srgbClr val="C8102E"/>
          </a:solidFill>
          <a:ln/>
        </p:spPr>
      </p:sp>
      <p:pic>
        <p:nvPicPr>
          <p:cNvPr id="14" name="Milestone 2 Glyph" descr="preencoded.png">    </p:cNvPr>
          <p:cNvPicPr>
            <a:picLocks noChangeAspect="1"/>
          </p:cNvPicPr>
          <p:nvPr/>
        </p:nvPicPr>
        <p:blipFill>
          <a:blip r:embed="rId2"/>
          <a:stretch>
            <a:fillRect/>
          </a:stretch>
        </p:blipFill>
        <p:spPr>
          <a:xfrm>
            <a:off x="4427525" y="2468880"/>
            <a:ext cx="457200" cy="457200"/>
          </a:xfrm>
          <a:prstGeom prst="rect">
            <a:avLst/>
          </a:prstGeom>
        </p:spPr>
      </p:pic>
      <p:sp>
        <p:nvSpPr>
          <p:cNvPr id="15" name="Milestone Card 2"/>
          <p:cNvSpPr/>
          <p:nvPr/>
        </p:nvSpPr>
        <p:spPr>
          <a:xfrm>
            <a:off x="3398825" y="3520440"/>
            <a:ext cx="2514600" cy="2331720"/>
          </a:xfrm>
          <a:prstGeom prst="roundRect">
            <a:avLst>
              <a:gd name="adj" fmla="val 4706"/>
            </a:avLst>
          </a:prstGeom>
          <a:solidFill>
            <a:schemeClr val="bg2"/>
          </a:solidFill>
          <a:ln/>
        </p:spPr>
      </p:sp>
      <p:sp>
        <p:nvSpPr>
          <p:cNvPr id="16" name="Milestone Title 2"/>
          <p:cNvSpPr txBox="1"/>
          <p:nvPr/>
        </p:nvSpPr>
        <p:spPr>
          <a:xfrm>
            <a:off x="3627425" y="3703320"/>
            <a:ext cx="2057400" cy="411480"/>
          </a:xfrm>
          <a:prstGeom prst="rect">
            <a:avLst/>
          </a:prstGeom>
          <a:noFill/>
          <a:ln/>
        </p:spPr>
        <p:txBody>
          <a:bodyPr wrap="square" lIns="0" tIns="0" rIns="0" bIns="0" rtlCol="0" anchor="ctr"/>
          <a:lstStyle/>
          <a:p>
            <a:pPr indent="0" marL="0">
              <a:buNone/>
            </a:pPr>
            <a:r>
              <a:rPr lang="en-US" sz="1800" b="1" dirty="0">
                <a:solidFill>
                  <a:schemeClr val="tx1"/>
                </a:solidFill>
              </a:rPr>
              <a:t>Tailored recipes</a:t>
            </a:r>
            <a:endParaRPr lang="en-US" sz="1800" dirty="0"/>
          </a:p>
        </p:txBody>
      </p:sp>
      <p:sp>
        <p:nvSpPr>
          <p:cNvPr id="17" name="Milestone Desc 2"/>
          <p:cNvSpPr txBox="1"/>
          <p:nvPr/>
        </p:nvSpPr>
        <p:spPr>
          <a:xfrm>
            <a:off x="3627425" y="4160520"/>
            <a:ext cx="2057400" cy="1554480"/>
          </a:xfrm>
          <a:prstGeom prst="rect">
            <a:avLst/>
          </a:prstGeom>
          <a:noFill/>
          <a:ln/>
        </p:spPr>
        <p:txBody>
          <a:bodyPr wrap="square" lIns="0" tIns="0" rIns="0" bIns="0" rtlCol="0" anchor="t"/>
          <a:lstStyle/>
          <a:p>
            <a:pPr indent="0" marL="0">
              <a:buNone/>
            </a:pPr>
            <a:r>
              <a:rPr lang="en-US" sz="1500" dirty="0">
                <a:solidFill>
                  <a:schemeClr val="tx2"/>
                </a:solidFill>
              </a:rPr>
              <a:t>Formulas adapt to dog size &amp; needs — like IncrediBites and Healthy Weight</a:t>
            </a:r>
            <a:endParaRPr lang="en-US" sz="1500" dirty="0"/>
          </a:p>
        </p:txBody>
      </p:sp>
      <p:sp>
        <p:nvSpPr>
          <p:cNvPr id="18" name="Milestone When 3"/>
          <p:cNvSpPr txBox="1"/>
          <p:nvPr/>
        </p:nvSpPr>
        <p:spPr>
          <a:xfrm>
            <a:off x="6249010" y="1691640"/>
            <a:ext cx="2514600" cy="411480"/>
          </a:xfrm>
          <a:prstGeom prst="rect">
            <a:avLst/>
          </a:prstGeom>
          <a:noFill/>
          <a:ln/>
        </p:spPr>
        <p:txBody>
          <a:bodyPr wrap="square" lIns="0" tIns="0" rIns="0" bIns="0" rtlCol="0" anchor="ctr"/>
          <a:lstStyle/>
          <a:p>
            <a:pPr algn="ctr" indent="0" marL="0">
              <a:buNone/>
            </a:pPr>
            <a:r>
              <a:rPr lang="en-US" sz="2000" b="1" dirty="0">
                <a:solidFill>
                  <a:schemeClr val="accent1"/>
                </a:solidFill>
                <a:latin typeface="Cambria" pitchFamily="34" charset="0"/>
                <a:ea typeface="Cambria" pitchFamily="34" charset="-122"/>
                <a:cs typeface="Cambria" pitchFamily="34" charset="-120"/>
              </a:rPr>
              <a:t>Expansion</a:t>
            </a:r>
            <a:endParaRPr lang="en-US" sz="2000" dirty="0"/>
          </a:p>
        </p:txBody>
      </p:sp>
      <p:sp>
        <p:nvSpPr>
          <p:cNvPr id="19" name="Milestone 3 Circle"/>
          <p:cNvSpPr/>
          <p:nvPr/>
        </p:nvSpPr>
        <p:spPr>
          <a:xfrm>
            <a:off x="7049110" y="2240280"/>
            <a:ext cx="914400" cy="914400"/>
          </a:xfrm>
          <a:prstGeom prst="ellipse">
            <a:avLst/>
          </a:prstGeom>
          <a:solidFill>
            <a:srgbClr val="C8102E"/>
          </a:solidFill>
          <a:ln/>
        </p:spPr>
      </p:sp>
      <p:pic>
        <p:nvPicPr>
          <p:cNvPr id="20" name="Milestone 3 Glyph" descr="preencoded.png">    </p:cNvPr>
          <p:cNvPicPr>
            <a:picLocks noChangeAspect="1"/>
          </p:cNvPicPr>
          <p:nvPr/>
        </p:nvPicPr>
        <p:blipFill>
          <a:blip r:embed="rId3"/>
          <a:stretch>
            <a:fillRect/>
          </a:stretch>
        </p:blipFill>
        <p:spPr>
          <a:xfrm>
            <a:off x="7277710" y="2468880"/>
            <a:ext cx="457200" cy="457200"/>
          </a:xfrm>
          <a:prstGeom prst="rect">
            <a:avLst/>
          </a:prstGeom>
        </p:spPr>
      </p:pic>
      <p:sp>
        <p:nvSpPr>
          <p:cNvPr id="21" name="Milestone Card 3"/>
          <p:cNvSpPr/>
          <p:nvPr/>
        </p:nvSpPr>
        <p:spPr>
          <a:xfrm>
            <a:off x="6249010" y="3520440"/>
            <a:ext cx="2514600" cy="2331720"/>
          </a:xfrm>
          <a:prstGeom prst="roundRect">
            <a:avLst>
              <a:gd name="adj" fmla="val 4706"/>
            </a:avLst>
          </a:prstGeom>
          <a:solidFill>
            <a:schemeClr val="bg2"/>
          </a:solidFill>
          <a:ln/>
        </p:spPr>
      </p:sp>
      <p:sp>
        <p:nvSpPr>
          <p:cNvPr id="22" name="Milestone Title 3"/>
          <p:cNvSpPr txBox="1"/>
          <p:nvPr/>
        </p:nvSpPr>
        <p:spPr>
          <a:xfrm>
            <a:off x="6477610" y="3703320"/>
            <a:ext cx="2057400" cy="411480"/>
          </a:xfrm>
          <a:prstGeom prst="rect">
            <a:avLst/>
          </a:prstGeom>
          <a:noFill/>
          <a:ln/>
        </p:spPr>
        <p:txBody>
          <a:bodyPr wrap="square" lIns="0" tIns="0" rIns="0" bIns="0" rtlCol="0" anchor="ctr"/>
          <a:lstStyle/>
          <a:p>
            <a:pPr indent="0" marL="0">
              <a:buNone/>
            </a:pPr>
            <a:r>
              <a:rPr lang="en-US" sz="1800" b="1" dirty="0">
                <a:solidFill>
                  <a:schemeClr val="tx1"/>
                </a:solidFill>
              </a:rPr>
              <a:t>Beyond the bag</a:t>
            </a:r>
            <a:endParaRPr lang="en-US" sz="1800" dirty="0"/>
          </a:p>
        </p:txBody>
      </p:sp>
      <p:sp>
        <p:nvSpPr>
          <p:cNvPr id="23" name="Milestone Desc 3"/>
          <p:cNvSpPr txBox="1"/>
          <p:nvPr/>
        </p:nvSpPr>
        <p:spPr>
          <a:xfrm>
            <a:off x="6477610" y="4160520"/>
            <a:ext cx="2057400" cy="1554480"/>
          </a:xfrm>
          <a:prstGeom prst="rect">
            <a:avLst/>
          </a:prstGeom>
          <a:noFill/>
          <a:ln/>
        </p:spPr>
        <p:txBody>
          <a:bodyPr wrap="square" lIns="0" tIns="0" rIns="0" bIns="0" rtlCol="0" anchor="t"/>
          <a:lstStyle/>
          <a:p>
            <a:pPr indent="0" marL="0">
              <a:buNone/>
            </a:pPr>
            <a:r>
              <a:rPr lang="en-US" sz="1500" dirty="0">
                <a:solidFill>
                  <a:schemeClr val="tx2"/>
                </a:solidFill>
              </a:rPr>
              <a:t>Wet meals, chopped blends &amp; treats join the dry line</a:t>
            </a:r>
            <a:endParaRPr lang="en-US" sz="1500" dirty="0"/>
          </a:p>
        </p:txBody>
      </p:sp>
      <p:sp>
        <p:nvSpPr>
          <p:cNvPr id="24" name="Milestone When 4"/>
          <p:cNvSpPr txBox="1"/>
          <p:nvPr/>
        </p:nvSpPr>
        <p:spPr>
          <a:xfrm>
            <a:off x="9099194" y="1691640"/>
            <a:ext cx="2514600" cy="411480"/>
          </a:xfrm>
          <a:prstGeom prst="rect">
            <a:avLst/>
          </a:prstGeom>
          <a:noFill/>
          <a:ln/>
        </p:spPr>
        <p:txBody>
          <a:bodyPr wrap="square" lIns="0" tIns="0" rIns="0" bIns="0" rtlCol="0" anchor="ctr"/>
          <a:lstStyle/>
          <a:p>
            <a:pPr algn="ctr" indent="0" marL="0">
              <a:buNone/>
            </a:pPr>
            <a:r>
              <a:rPr lang="en-US" sz="2000" b="1" dirty="0">
                <a:solidFill>
                  <a:schemeClr val="accent1"/>
                </a:solidFill>
                <a:latin typeface="Cambria" pitchFamily="34" charset="0"/>
                <a:ea typeface="Cambria" pitchFamily="34" charset="-122"/>
                <a:cs typeface="Cambria" pitchFamily="34" charset="-120"/>
              </a:rPr>
              <a:t>2015</a:t>
            </a:r>
            <a:endParaRPr lang="en-US" sz="2000" dirty="0"/>
          </a:p>
        </p:txBody>
      </p:sp>
      <p:sp>
        <p:nvSpPr>
          <p:cNvPr id="25" name="Milestone 4 Circle"/>
          <p:cNvSpPr/>
          <p:nvPr/>
        </p:nvSpPr>
        <p:spPr>
          <a:xfrm>
            <a:off x="9899294" y="2240280"/>
            <a:ext cx="914400" cy="914400"/>
          </a:xfrm>
          <a:prstGeom prst="ellipse">
            <a:avLst/>
          </a:prstGeom>
          <a:solidFill>
            <a:srgbClr val="8E0C20"/>
          </a:solidFill>
          <a:ln/>
        </p:spPr>
      </p:sp>
      <p:pic>
        <p:nvPicPr>
          <p:cNvPr id="26" name="Milestone 4 Glyph" descr="preencoded.png">    </p:cNvPr>
          <p:cNvPicPr>
            <a:picLocks noChangeAspect="1"/>
          </p:cNvPicPr>
          <p:nvPr/>
        </p:nvPicPr>
        <p:blipFill>
          <a:blip r:embed="rId4"/>
          <a:stretch>
            <a:fillRect/>
          </a:stretch>
        </p:blipFill>
        <p:spPr>
          <a:xfrm>
            <a:off x="10127894" y="2468880"/>
            <a:ext cx="457200" cy="457200"/>
          </a:xfrm>
          <a:prstGeom prst="rect">
            <a:avLst/>
          </a:prstGeom>
        </p:spPr>
      </p:pic>
      <p:sp>
        <p:nvSpPr>
          <p:cNvPr id="27" name="Milestone Card 4"/>
          <p:cNvSpPr/>
          <p:nvPr/>
        </p:nvSpPr>
        <p:spPr>
          <a:xfrm>
            <a:off x="9099194" y="3520440"/>
            <a:ext cx="2514600" cy="2331720"/>
          </a:xfrm>
          <a:prstGeom prst="roundRect">
            <a:avLst>
              <a:gd name="adj" fmla="val 4706"/>
            </a:avLst>
          </a:prstGeom>
          <a:solidFill>
            <a:schemeClr val="bg2"/>
          </a:solidFill>
          <a:ln/>
        </p:spPr>
      </p:sp>
      <p:sp>
        <p:nvSpPr>
          <p:cNvPr id="28" name="Milestone Title 4"/>
          <p:cNvSpPr txBox="1"/>
          <p:nvPr/>
        </p:nvSpPr>
        <p:spPr>
          <a:xfrm>
            <a:off x="9327794" y="3703320"/>
            <a:ext cx="2057400" cy="411480"/>
          </a:xfrm>
          <a:prstGeom prst="rect">
            <a:avLst/>
          </a:prstGeom>
          <a:noFill/>
          <a:ln/>
        </p:spPr>
        <p:txBody>
          <a:bodyPr wrap="square" lIns="0" tIns="0" rIns="0" bIns="0" rtlCol="0" anchor="ctr"/>
          <a:lstStyle/>
          <a:p>
            <a:pPr indent="0" marL="0">
              <a:buNone/>
            </a:pPr>
            <a:r>
              <a:rPr lang="en-US" sz="1800" b="1" dirty="0">
                <a:solidFill>
                  <a:schemeClr val="tx1"/>
                </a:solidFill>
              </a:rPr>
              <a:t>Brand trust</a:t>
            </a:r>
            <a:endParaRPr lang="en-US" sz="1800" dirty="0"/>
          </a:p>
        </p:txBody>
      </p:sp>
      <p:sp>
        <p:nvSpPr>
          <p:cNvPr id="29" name="Milestone Desc 4"/>
          <p:cNvSpPr txBox="1"/>
          <p:nvPr/>
        </p:nvSpPr>
        <p:spPr>
          <a:xfrm>
            <a:off x="9327794" y="4160520"/>
            <a:ext cx="2057400" cy="1554480"/>
          </a:xfrm>
          <a:prstGeom prst="rect">
            <a:avLst/>
          </a:prstGeom>
          <a:noFill/>
          <a:ln/>
        </p:spPr>
        <p:txBody>
          <a:bodyPr wrap="square" lIns="0" tIns="0" rIns="0" bIns="0" rtlCol="0" anchor="t"/>
          <a:lstStyle/>
          <a:p>
            <a:pPr indent="0" marL="0">
              <a:buNone/>
            </a:pPr>
            <a:r>
              <a:rPr lang="en-US" sz="1500" dirty="0">
                <a:solidFill>
                  <a:schemeClr val="tx2"/>
                </a:solidFill>
              </a:rPr>
              <a:t>“I Stand Behind Beneful” features the employees who make it</a:t>
            </a:r>
            <a:endParaRPr lang="en-US" sz="1500" dirty="0"/>
          </a:p>
        </p:txBody>
      </p:sp>
      <p:sp>
        <p:nvSpPr>
          <p:cNvPr id="25" name="Slide Number Placeholder 0"/>
          <p:cNvSpPr>
            <a:spLocks noGrp="1"/>
          </p:cNvSpPr>
          <p:nvPr>
            <p:ph type="sldNum" sz="quarter" idx="4294967295"/>
          </p:nvPr>
        </p:nvSpPr>
        <p:spPr>
          <a:xfrm>
            <a:off x="5486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transition spd="med">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02  ·  PRODUCTS</a:t>
            </a:r>
            <a:endParaRPr lang="en-US" sz="13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One Brand, Three Ways to Feed</a:t>
            </a:r>
            <a:endParaRPr lang="en-US" sz="3600" dirty="0"/>
          </a:p>
        </p:txBody>
      </p:sp>
      <p:sp>
        <p:nvSpPr>
          <p:cNvPr id="4" name="Text 0"/>
          <p:cNvSpPr/>
          <p:nvPr>
            <p:ph idx="102" type="body" hasCustomPrompt="1"/>
          </p:nvPr>
        </p:nvSpPr>
        <p:spPr>
          <a:xfrm>
            <a:off x="5669280" y="6327648"/>
            <a:ext cx="5971032" cy="320040"/>
          </a:xfrm>
          <a:prstGeom prst="rect">
            <a:avLst/>
          </a:prstGeom>
          <a:noFill/>
          <a:ln/>
        </p:spPr>
        <p:txBody>
          <a:bodyPr wrap="square" lIns="0" tIns="0" rIns="0" bIns="0" rtlCol="0" anchor="ctr"/>
          <a:lstStyle/>
          <a:p>
            <a:pPr algn="r" indent="0" marL="0">
              <a:buNone/>
            </a:pPr>
            <a:r>
              <a:rPr lang="en-US" sz="1100" i="1" dirty="0">
                <a:solidFill>
                  <a:schemeClr val="tx2"/>
                </a:solidFill>
              </a:rPr>
              <a:t>Source: (Purina, n.d.)</a:t>
            </a:r>
            <a:endParaRPr lang="en-US" sz="1100" dirty="0"/>
          </a:p>
        </p:txBody>
      </p:sp>
      <p:sp>
        <p:nvSpPr>
          <p:cNvPr id="5" name="Product Card Dry Food"/>
          <p:cNvSpPr/>
          <p:nvPr/>
        </p:nvSpPr>
        <p:spPr>
          <a:xfrm>
            <a:off x="548640" y="1783080"/>
            <a:ext cx="3502152" cy="3429000"/>
          </a:xfrm>
          <a:prstGeom prst="roundRect">
            <a:avLst>
              <a:gd name="adj" fmla="val 4000"/>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6" name="Dry Food Circle"/>
          <p:cNvSpPr/>
          <p:nvPr/>
        </p:nvSpPr>
        <p:spPr>
          <a:xfrm>
            <a:off x="868680" y="2057400"/>
            <a:ext cx="777240" cy="777240"/>
          </a:xfrm>
          <a:prstGeom prst="ellipse">
            <a:avLst/>
          </a:prstGeom>
          <a:solidFill>
            <a:srgbClr val="C8102E"/>
          </a:solidFill>
          <a:ln/>
        </p:spPr>
      </p:sp>
      <p:pic>
        <p:nvPicPr>
          <p:cNvPr id="7" name="Dry Food Glyph" descr="preencoded.png">    </p:cNvPr>
          <p:cNvPicPr>
            <a:picLocks noChangeAspect="1"/>
          </p:cNvPicPr>
          <p:nvPr/>
        </p:nvPicPr>
        <p:blipFill>
          <a:blip r:embed="rId1"/>
          <a:stretch>
            <a:fillRect/>
          </a:stretch>
        </p:blipFill>
        <p:spPr>
          <a:xfrm>
            <a:off x="1062990" y="2251710"/>
            <a:ext cx="388620" cy="388620"/>
          </a:xfrm>
          <a:prstGeom prst="rect">
            <a:avLst/>
          </a:prstGeom>
        </p:spPr>
      </p:pic>
      <p:sp>
        <p:nvSpPr>
          <p:cNvPr id="8" name="Product Title Dry Food"/>
          <p:cNvSpPr txBox="1"/>
          <p:nvPr/>
        </p:nvSpPr>
        <p:spPr>
          <a:xfrm>
            <a:off x="1828800" y="2057400"/>
            <a:ext cx="2039112" cy="7772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Dry Food</a:t>
            </a:r>
            <a:endParaRPr lang="en-US" sz="2400" dirty="0"/>
          </a:p>
        </p:txBody>
      </p:sp>
      <p:sp>
        <p:nvSpPr>
          <p:cNvPr id="9" name="Product List Dry Food"/>
          <p:cNvSpPr txBox="1"/>
          <p:nvPr/>
        </p:nvSpPr>
        <p:spPr>
          <a:xfrm>
            <a:off x="914400" y="3063240"/>
            <a:ext cx="2862072" cy="196596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Originals</a:t>
            </a:r>
            <a:endParaRPr lang="en-US" sz="1700" dirty="0"/>
          </a:p>
          <a:p>
            <a:pPr marL="228600" indent="-228600">
              <a:spcAft>
                <a:spcPts val="800"/>
              </a:spcAft>
              <a:buSzPct val="100000"/>
              <a:buChar char="•"/>
            </a:pPr>
            <a:r>
              <a:rPr lang="en-US" sz="1700" dirty="0">
                <a:solidFill>
                  <a:schemeClr val="tx1"/>
                </a:solidFill>
              </a:rPr>
              <a:t>IncrediBites (small dogs)</a:t>
            </a:r>
            <a:endParaRPr lang="en-US" sz="1700" dirty="0"/>
          </a:p>
          <a:p>
            <a:pPr marL="228600" indent="-228600">
              <a:spcAft>
                <a:spcPts val="800"/>
              </a:spcAft>
              <a:buSzPct val="100000"/>
              <a:buChar char="•"/>
            </a:pPr>
            <a:r>
              <a:rPr lang="en-US" sz="1700" dirty="0">
                <a:solidFill>
                  <a:schemeClr val="tx1"/>
                </a:solidFill>
              </a:rPr>
              <a:t>Healthy Weight</a:t>
            </a:r>
            <a:endParaRPr lang="en-US" sz="1700" dirty="0"/>
          </a:p>
          <a:p>
            <a:pPr marL="228600" indent="-228600">
              <a:spcAft>
                <a:spcPts val="800"/>
              </a:spcAft>
              <a:buSzPct val="100000"/>
              <a:buChar char="•"/>
            </a:pPr>
            <a:r>
              <a:rPr lang="en-US" sz="1700" dirty="0">
                <a:solidFill>
                  <a:schemeClr val="tx1"/>
                </a:solidFill>
              </a:rPr>
              <a:t>Grain Free</a:t>
            </a:r>
            <a:endParaRPr lang="en-US" sz="1700" dirty="0"/>
          </a:p>
        </p:txBody>
      </p:sp>
      <p:sp>
        <p:nvSpPr>
          <p:cNvPr id="10" name="Product Card Wet Food"/>
          <p:cNvSpPr/>
          <p:nvPr/>
        </p:nvSpPr>
        <p:spPr>
          <a:xfrm>
            <a:off x="4325112" y="1783080"/>
            <a:ext cx="3502152" cy="3429000"/>
          </a:xfrm>
          <a:prstGeom prst="roundRect">
            <a:avLst>
              <a:gd name="adj" fmla="val 4000"/>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1" name="Wet Food Circle"/>
          <p:cNvSpPr/>
          <p:nvPr/>
        </p:nvSpPr>
        <p:spPr>
          <a:xfrm>
            <a:off x="4645152" y="2057400"/>
            <a:ext cx="777240" cy="777240"/>
          </a:xfrm>
          <a:prstGeom prst="ellipse">
            <a:avLst/>
          </a:prstGeom>
          <a:solidFill>
            <a:srgbClr val="8E0C20"/>
          </a:solidFill>
          <a:ln/>
        </p:spPr>
      </p:sp>
      <p:pic>
        <p:nvPicPr>
          <p:cNvPr id="12" name="Wet Food Glyph" descr="preencoded.png">    </p:cNvPr>
          <p:cNvPicPr>
            <a:picLocks noChangeAspect="1"/>
          </p:cNvPicPr>
          <p:nvPr/>
        </p:nvPicPr>
        <p:blipFill>
          <a:blip r:embed="rId2"/>
          <a:stretch>
            <a:fillRect/>
          </a:stretch>
        </p:blipFill>
        <p:spPr>
          <a:xfrm>
            <a:off x="4839462" y="2251710"/>
            <a:ext cx="388620" cy="388620"/>
          </a:xfrm>
          <a:prstGeom prst="rect">
            <a:avLst/>
          </a:prstGeom>
        </p:spPr>
      </p:pic>
      <p:sp>
        <p:nvSpPr>
          <p:cNvPr id="13" name="Product Title Wet Food"/>
          <p:cNvSpPr txBox="1"/>
          <p:nvPr/>
        </p:nvSpPr>
        <p:spPr>
          <a:xfrm>
            <a:off x="5605272" y="2057400"/>
            <a:ext cx="2039112" cy="7772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Wet Food</a:t>
            </a:r>
            <a:endParaRPr lang="en-US" sz="2400" dirty="0"/>
          </a:p>
        </p:txBody>
      </p:sp>
      <p:sp>
        <p:nvSpPr>
          <p:cNvPr id="14" name="Product List Wet Food"/>
          <p:cNvSpPr txBox="1"/>
          <p:nvPr/>
        </p:nvSpPr>
        <p:spPr>
          <a:xfrm>
            <a:off x="4690872" y="3063240"/>
            <a:ext cx="2862072" cy="196596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Prepared Meals stews</a:t>
            </a:r>
            <a:endParaRPr lang="en-US" sz="1700" dirty="0"/>
          </a:p>
          <a:p>
            <a:pPr marL="228600" indent="-228600">
              <a:spcAft>
                <a:spcPts val="800"/>
              </a:spcAft>
              <a:buSzPct val="100000"/>
              <a:buChar char="•"/>
            </a:pPr>
            <a:r>
              <a:rPr lang="en-US" sz="1700" dirty="0">
                <a:solidFill>
                  <a:schemeClr val="tx1"/>
                </a:solidFill>
              </a:rPr>
              <a:t>Chopped Blends</a:t>
            </a:r>
            <a:endParaRPr lang="en-US" sz="1700" dirty="0"/>
          </a:p>
          <a:p>
            <a:pPr marL="228600" indent="-228600">
              <a:spcAft>
                <a:spcPts val="800"/>
              </a:spcAft>
              <a:buSzPct val="100000"/>
              <a:buChar char="•"/>
            </a:pPr>
            <a:r>
              <a:rPr lang="en-US" sz="1700" dirty="0">
                <a:solidFill>
                  <a:schemeClr val="tx1"/>
                </a:solidFill>
              </a:rPr>
              <a:t>IncrediBites wet</a:t>
            </a:r>
            <a:endParaRPr lang="en-US" sz="1700" dirty="0"/>
          </a:p>
        </p:txBody>
      </p:sp>
      <p:sp>
        <p:nvSpPr>
          <p:cNvPr id="15" name="Product Card Treats"/>
          <p:cNvSpPr/>
          <p:nvPr/>
        </p:nvSpPr>
        <p:spPr>
          <a:xfrm>
            <a:off x="8101584" y="1783080"/>
            <a:ext cx="3502152" cy="3429000"/>
          </a:xfrm>
          <a:prstGeom prst="roundRect">
            <a:avLst>
              <a:gd name="adj" fmla="val 4000"/>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Treats Circle"/>
          <p:cNvSpPr/>
          <p:nvPr/>
        </p:nvSpPr>
        <p:spPr>
          <a:xfrm>
            <a:off x="8421624" y="2057400"/>
            <a:ext cx="777240" cy="777240"/>
          </a:xfrm>
          <a:prstGeom prst="ellipse">
            <a:avLst/>
          </a:prstGeom>
          <a:solidFill>
            <a:srgbClr val="E04A5F"/>
          </a:solidFill>
          <a:ln/>
        </p:spPr>
      </p:sp>
      <p:pic>
        <p:nvPicPr>
          <p:cNvPr id="17" name="Treats Glyph" descr="preencoded.png">    </p:cNvPr>
          <p:cNvPicPr>
            <a:picLocks noChangeAspect="1"/>
          </p:cNvPicPr>
          <p:nvPr/>
        </p:nvPicPr>
        <p:blipFill>
          <a:blip r:embed="rId3"/>
          <a:stretch>
            <a:fillRect/>
          </a:stretch>
        </p:blipFill>
        <p:spPr>
          <a:xfrm>
            <a:off x="8615934" y="2251710"/>
            <a:ext cx="388620" cy="388620"/>
          </a:xfrm>
          <a:prstGeom prst="rect">
            <a:avLst/>
          </a:prstGeom>
        </p:spPr>
      </p:pic>
      <p:sp>
        <p:nvSpPr>
          <p:cNvPr id="18" name="Product Title Treats"/>
          <p:cNvSpPr txBox="1"/>
          <p:nvPr/>
        </p:nvSpPr>
        <p:spPr>
          <a:xfrm>
            <a:off x="9381744" y="2057400"/>
            <a:ext cx="2039112" cy="7772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Treats</a:t>
            </a:r>
            <a:endParaRPr lang="en-US" sz="2400" dirty="0"/>
          </a:p>
        </p:txBody>
      </p:sp>
      <p:sp>
        <p:nvSpPr>
          <p:cNvPr id="19" name="Product List Treats"/>
          <p:cNvSpPr txBox="1"/>
          <p:nvPr/>
        </p:nvSpPr>
        <p:spPr>
          <a:xfrm>
            <a:off x="8467344" y="3063240"/>
            <a:ext cx="2862072" cy="196596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Baked Delights</a:t>
            </a:r>
            <a:endParaRPr lang="en-US" sz="1700" dirty="0"/>
          </a:p>
          <a:p>
            <a:pPr marL="228600" indent="-228600">
              <a:spcAft>
                <a:spcPts val="800"/>
              </a:spcAft>
              <a:buSzPct val="100000"/>
              <a:buChar char="•"/>
            </a:pPr>
            <a:r>
              <a:rPr lang="en-US" sz="1700" dirty="0">
                <a:solidFill>
                  <a:schemeClr val="tx1"/>
                </a:solidFill>
              </a:rPr>
              <a:t>Healthy Smile dental chews</a:t>
            </a:r>
            <a:endParaRPr lang="en-US" sz="1700" dirty="0"/>
          </a:p>
        </p:txBody>
      </p:sp>
      <p:sp>
        <p:nvSpPr>
          <p:cNvPr id="20" name="Tailored Label"/>
          <p:cNvSpPr txBox="1"/>
          <p:nvPr/>
        </p:nvSpPr>
        <p:spPr>
          <a:xfrm>
            <a:off x="548640" y="5486400"/>
            <a:ext cx="2377440" cy="457200"/>
          </a:xfrm>
          <a:prstGeom prst="rect">
            <a:avLst/>
          </a:prstGeom>
          <a:noFill/>
          <a:ln/>
        </p:spPr>
        <p:txBody>
          <a:bodyPr wrap="square" lIns="0" tIns="0" rIns="0" bIns="0" rtlCol="0" anchor="ctr"/>
          <a:lstStyle/>
          <a:p>
            <a:pPr indent="0" marL="0">
              <a:buNone/>
            </a:pPr>
            <a:r>
              <a:rPr lang="en-US" sz="1600" b="1" dirty="0">
                <a:solidFill>
                  <a:schemeClr val="tx2"/>
                </a:solidFill>
              </a:rPr>
              <a:t>Formulas tailored by:</a:t>
            </a:r>
            <a:endParaRPr lang="en-US" sz="1600" dirty="0"/>
          </a:p>
        </p:txBody>
      </p:sp>
      <p:sp>
        <p:nvSpPr>
          <p:cNvPr id="21" name="Chip Dog size"/>
          <p:cNvSpPr/>
          <p:nvPr/>
        </p:nvSpPr>
        <p:spPr>
          <a:xfrm>
            <a:off x="2926080" y="5486400"/>
            <a:ext cx="1965960" cy="457200"/>
          </a:xfrm>
          <a:prstGeom prst="roundRect">
            <a:avLst>
              <a:gd name="adj" fmla="val 50000"/>
            </a:avLst>
          </a:prstGeom>
          <a:solidFill>
            <a:schemeClr val="bg2"/>
          </a:solidFill>
          <a:ln/>
        </p:spPr>
      </p:sp>
      <p:sp>
        <p:nvSpPr>
          <p:cNvPr id="22" name="Chip Text Dog size"/>
          <p:cNvSpPr txBox="1"/>
          <p:nvPr/>
        </p:nvSpPr>
        <p:spPr>
          <a:xfrm>
            <a:off x="2926080" y="5486400"/>
            <a:ext cx="1965960" cy="457200"/>
          </a:xfrm>
          <a:prstGeom prst="rect">
            <a:avLst/>
          </a:prstGeom>
          <a:noFill/>
          <a:ln/>
        </p:spPr>
        <p:txBody>
          <a:bodyPr wrap="square" lIns="0" tIns="0" rIns="0" bIns="0" rtlCol="0" anchor="ctr"/>
          <a:lstStyle/>
          <a:p>
            <a:pPr algn="ctr" indent="0" marL="0">
              <a:buNone/>
            </a:pPr>
            <a:r>
              <a:rPr lang="en-US" sz="1500" b="1" dirty="0">
                <a:solidFill>
                  <a:schemeClr val="accent4"/>
                </a:solidFill>
              </a:rPr>
              <a:t>Dog size</a:t>
            </a:r>
            <a:endParaRPr lang="en-US" sz="1500" dirty="0"/>
          </a:p>
        </p:txBody>
      </p:sp>
      <p:sp>
        <p:nvSpPr>
          <p:cNvPr id="23" name="Chip Life stage"/>
          <p:cNvSpPr/>
          <p:nvPr/>
        </p:nvSpPr>
        <p:spPr>
          <a:xfrm>
            <a:off x="5074920" y="5486400"/>
            <a:ext cx="1965960" cy="457200"/>
          </a:xfrm>
          <a:prstGeom prst="roundRect">
            <a:avLst>
              <a:gd name="adj" fmla="val 50000"/>
            </a:avLst>
          </a:prstGeom>
          <a:solidFill>
            <a:schemeClr val="bg2"/>
          </a:solidFill>
          <a:ln/>
        </p:spPr>
      </p:sp>
      <p:sp>
        <p:nvSpPr>
          <p:cNvPr id="24" name="Chip Text Life stage"/>
          <p:cNvSpPr txBox="1"/>
          <p:nvPr/>
        </p:nvSpPr>
        <p:spPr>
          <a:xfrm>
            <a:off x="5074920" y="5486400"/>
            <a:ext cx="1965960" cy="457200"/>
          </a:xfrm>
          <a:prstGeom prst="rect">
            <a:avLst/>
          </a:prstGeom>
          <a:noFill/>
          <a:ln/>
        </p:spPr>
        <p:txBody>
          <a:bodyPr wrap="square" lIns="0" tIns="0" rIns="0" bIns="0" rtlCol="0" anchor="ctr"/>
          <a:lstStyle/>
          <a:p>
            <a:pPr algn="ctr" indent="0" marL="0">
              <a:buNone/>
            </a:pPr>
            <a:r>
              <a:rPr lang="en-US" sz="1500" b="1" dirty="0">
                <a:solidFill>
                  <a:schemeClr val="accent4"/>
                </a:solidFill>
              </a:rPr>
              <a:t>Life stage</a:t>
            </a:r>
            <a:endParaRPr lang="en-US" sz="1500" dirty="0"/>
          </a:p>
        </p:txBody>
      </p:sp>
      <p:sp>
        <p:nvSpPr>
          <p:cNvPr id="25" name="Chip Weight"/>
          <p:cNvSpPr/>
          <p:nvPr/>
        </p:nvSpPr>
        <p:spPr>
          <a:xfrm>
            <a:off x="7223760" y="5486400"/>
            <a:ext cx="1965960" cy="457200"/>
          </a:xfrm>
          <a:prstGeom prst="roundRect">
            <a:avLst>
              <a:gd name="adj" fmla="val 50000"/>
            </a:avLst>
          </a:prstGeom>
          <a:solidFill>
            <a:schemeClr val="bg2"/>
          </a:solidFill>
          <a:ln/>
        </p:spPr>
      </p:sp>
      <p:sp>
        <p:nvSpPr>
          <p:cNvPr id="26" name="Chip Text Weight"/>
          <p:cNvSpPr txBox="1"/>
          <p:nvPr/>
        </p:nvSpPr>
        <p:spPr>
          <a:xfrm>
            <a:off x="7223760" y="5486400"/>
            <a:ext cx="1965960" cy="457200"/>
          </a:xfrm>
          <a:prstGeom prst="rect">
            <a:avLst/>
          </a:prstGeom>
          <a:noFill/>
          <a:ln/>
        </p:spPr>
        <p:txBody>
          <a:bodyPr wrap="square" lIns="0" tIns="0" rIns="0" bIns="0" rtlCol="0" anchor="ctr"/>
          <a:lstStyle/>
          <a:p>
            <a:pPr algn="ctr" indent="0" marL="0">
              <a:buNone/>
            </a:pPr>
            <a:r>
              <a:rPr lang="en-US" sz="1500" b="1" dirty="0">
                <a:solidFill>
                  <a:schemeClr val="accent4"/>
                </a:solidFill>
              </a:rPr>
              <a:t>Weight</a:t>
            </a:r>
            <a:endParaRPr lang="en-US" sz="1500" dirty="0"/>
          </a:p>
        </p:txBody>
      </p:sp>
      <p:sp>
        <p:nvSpPr>
          <p:cNvPr id="27" name="Chip Taste &amp; texture"/>
          <p:cNvSpPr/>
          <p:nvPr/>
        </p:nvSpPr>
        <p:spPr>
          <a:xfrm>
            <a:off x="9372600" y="5486400"/>
            <a:ext cx="1965960" cy="457200"/>
          </a:xfrm>
          <a:prstGeom prst="roundRect">
            <a:avLst>
              <a:gd name="adj" fmla="val 50000"/>
            </a:avLst>
          </a:prstGeom>
          <a:solidFill>
            <a:schemeClr val="bg2"/>
          </a:solidFill>
          <a:ln/>
        </p:spPr>
      </p:sp>
      <p:sp>
        <p:nvSpPr>
          <p:cNvPr id="28" name="Chip Text Taste &amp;amp; texture"/>
          <p:cNvSpPr txBox="1"/>
          <p:nvPr/>
        </p:nvSpPr>
        <p:spPr>
          <a:xfrm>
            <a:off x="9372600" y="5486400"/>
            <a:ext cx="1965960" cy="457200"/>
          </a:xfrm>
          <a:prstGeom prst="rect">
            <a:avLst/>
          </a:prstGeom>
          <a:noFill/>
          <a:ln/>
        </p:spPr>
        <p:txBody>
          <a:bodyPr wrap="square" lIns="0" tIns="0" rIns="0" bIns="0" rtlCol="0" anchor="ctr"/>
          <a:lstStyle/>
          <a:p>
            <a:pPr algn="ctr" indent="0" marL="0">
              <a:buNone/>
            </a:pPr>
            <a:r>
              <a:rPr lang="en-US" sz="1500" b="1" dirty="0">
                <a:solidFill>
                  <a:schemeClr val="accent4"/>
                </a:solidFill>
              </a:rPr>
              <a:t>Taste &amp; texture</a:t>
            </a:r>
            <a:endParaRPr lang="en-US" sz="1500" dirty="0"/>
          </a:p>
        </p:txBody>
      </p:sp>
      <p:sp>
        <p:nvSpPr>
          <p:cNvPr id="25" name="Slide Number Placeholder 0"/>
          <p:cNvSpPr>
            <a:spLocks noGrp="1"/>
          </p:cNvSpPr>
          <p:nvPr>
            <p:ph type="sldNum" sz="quarter" idx="4294967295"/>
          </p:nvPr>
        </p:nvSpPr>
        <p:spPr>
          <a:xfrm>
            <a:off x="5486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transition spd="med">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03  ·  TOP SELLERS</a:t>
            </a:r>
            <a:endParaRPr lang="en-US" sz="13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The Flagships Driving the Brand</a:t>
            </a:r>
            <a:endParaRPr lang="en-US" sz="3600" dirty="0"/>
          </a:p>
        </p:txBody>
      </p:sp>
      <p:sp>
        <p:nvSpPr>
          <p:cNvPr id="4" name="Text 0"/>
          <p:cNvSpPr/>
          <p:nvPr>
            <p:ph idx="102" type="body" hasCustomPrompt="1"/>
          </p:nvPr>
        </p:nvSpPr>
        <p:spPr>
          <a:xfrm>
            <a:off x="5669280" y="6327648"/>
            <a:ext cx="5971032" cy="320040"/>
          </a:xfrm>
          <a:prstGeom prst="rect">
            <a:avLst/>
          </a:prstGeom>
          <a:noFill/>
          <a:ln/>
        </p:spPr>
        <p:txBody>
          <a:bodyPr wrap="square" lIns="0" tIns="0" rIns="0" bIns="0" rtlCol="0" anchor="ctr"/>
          <a:lstStyle/>
          <a:p>
            <a:pPr algn="r" indent="0" marL="0">
              <a:buNone/>
            </a:pPr>
            <a:r>
              <a:rPr lang="en-US" sz="1100" i="1" dirty="0">
                <a:solidFill>
                  <a:schemeClr val="tx2"/>
                </a:solidFill>
              </a:rPr>
              <a:t>Source: (Owen, 2026; Purina, n.d.)</a:t>
            </a:r>
            <a:endParaRPr lang="en-US" sz="1100" dirty="0"/>
          </a:p>
        </p:txBody>
      </p:sp>
      <p:sp>
        <p:nvSpPr>
          <p:cNvPr id="5" name="Seller Card 1"/>
          <p:cNvSpPr/>
          <p:nvPr/>
        </p:nvSpPr>
        <p:spPr>
          <a:xfrm>
            <a:off x="548640" y="1783080"/>
            <a:ext cx="6675120" cy="1234440"/>
          </a:xfrm>
          <a:prstGeom prst="roundRect">
            <a:avLst>
              <a:gd name="adj" fmla="val 8889"/>
            </a:avLst>
          </a:prstGeom>
          <a:solidFill>
            <a:schemeClr val="bg2"/>
          </a:solidFill>
          <a:ln/>
        </p:spPr>
      </p:sp>
      <p:sp>
        <p:nvSpPr>
          <p:cNvPr id="6" name="Seller 1 Circle"/>
          <p:cNvSpPr/>
          <p:nvPr/>
        </p:nvSpPr>
        <p:spPr>
          <a:xfrm>
            <a:off x="777240" y="1965960"/>
            <a:ext cx="868680" cy="868680"/>
          </a:xfrm>
          <a:prstGeom prst="ellipse">
            <a:avLst/>
          </a:prstGeom>
          <a:solidFill>
            <a:srgbClr val="C8102E"/>
          </a:solidFill>
          <a:ln/>
        </p:spPr>
      </p:sp>
      <p:pic>
        <p:nvPicPr>
          <p:cNvPr id="7" name="Seller 1 Glyph" descr="preencoded.png">    </p:cNvPr>
          <p:cNvPicPr>
            <a:picLocks noChangeAspect="1"/>
          </p:cNvPicPr>
          <p:nvPr/>
        </p:nvPicPr>
        <p:blipFill>
          <a:blip r:embed="rId1"/>
          <a:stretch>
            <a:fillRect/>
          </a:stretch>
        </p:blipFill>
        <p:spPr>
          <a:xfrm>
            <a:off x="994410" y="2183130"/>
            <a:ext cx="434340" cy="434340"/>
          </a:xfrm>
          <a:prstGeom prst="rect">
            <a:avLst/>
          </a:prstGeom>
        </p:spPr>
      </p:pic>
      <p:sp>
        <p:nvSpPr>
          <p:cNvPr id="8" name="Seller Title 1"/>
          <p:cNvSpPr txBox="1"/>
          <p:nvPr/>
        </p:nvSpPr>
        <p:spPr>
          <a:xfrm>
            <a:off x="1874520" y="1920240"/>
            <a:ext cx="5120640" cy="411480"/>
          </a:xfrm>
          <a:prstGeom prst="rect">
            <a:avLst/>
          </a:prstGeom>
          <a:noFill/>
          <a:ln/>
        </p:spPr>
        <p:txBody>
          <a:bodyPr wrap="square" lIns="0" tIns="0" rIns="0" bIns="0" rtlCol="0" anchor="ctr"/>
          <a:lstStyle/>
          <a:p>
            <a:pPr indent="0" marL="0">
              <a:buNone/>
            </a:pPr>
            <a:r>
              <a:rPr lang="en-US" sz="2000" b="1" dirty="0">
                <a:solidFill>
                  <a:schemeClr val="tx1"/>
                </a:solidFill>
              </a:rPr>
              <a:t>Beneful Originals</a:t>
            </a:r>
            <a:endParaRPr lang="en-US" sz="2000" dirty="0"/>
          </a:p>
        </p:txBody>
      </p:sp>
      <p:sp>
        <p:nvSpPr>
          <p:cNvPr id="9" name="Seller Desc 1"/>
          <p:cNvSpPr txBox="1"/>
          <p:nvPr/>
        </p:nvSpPr>
        <p:spPr>
          <a:xfrm>
            <a:off x="1874520" y="2331720"/>
            <a:ext cx="5120640" cy="594360"/>
          </a:xfrm>
          <a:prstGeom prst="rect">
            <a:avLst/>
          </a:prstGeom>
          <a:noFill/>
          <a:ln/>
        </p:spPr>
        <p:txBody>
          <a:bodyPr wrap="square" lIns="0" tIns="0" rIns="0" bIns="0" rtlCol="0" anchor="t"/>
          <a:lstStyle/>
          <a:p>
            <a:pPr indent="0" marL="0">
              <a:buNone/>
            </a:pPr>
            <a:r>
              <a:rPr lang="en-US" sz="1500" dirty="0">
                <a:solidFill>
                  <a:schemeClr val="tx2"/>
                </a:solidFill>
              </a:rPr>
              <a:t>The core dry recipe with real meat and visible veggies — the brand’s foundation</a:t>
            </a:r>
            <a:endParaRPr lang="en-US" sz="1500" dirty="0"/>
          </a:p>
        </p:txBody>
      </p:sp>
      <p:sp>
        <p:nvSpPr>
          <p:cNvPr id="10" name="Seller Card 2"/>
          <p:cNvSpPr/>
          <p:nvPr/>
        </p:nvSpPr>
        <p:spPr>
          <a:xfrm>
            <a:off x="548640" y="3246120"/>
            <a:ext cx="6675120" cy="1234440"/>
          </a:xfrm>
          <a:prstGeom prst="roundRect">
            <a:avLst>
              <a:gd name="adj" fmla="val 8889"/>
            </a:avLst>
          </a:prstGeom>
          <a:solidFill>
            <a:schemeClr val="bg2"/>
          </a:solidFill>
          <a:ln/>
        </p:spPr>
      </p:sp>
      <p:sp>
        <p:nvSpPr>
          <p:cNvPr id="11" name="Seller 2 Circle"/>
          <p:cNvSpPr/>
          <p:nvPr/>
        </p:nvSpPr>
        <p:spPr>
          <a:xfrm>
            <a:off x="777240" y="3429000"/>
            <a:ext cx="868680" cy="868680"/>
          </a:xfrm>
          <a:prstGeom prst="ellipse">
            <a:avLst/>
          </a:prstGeom>
          <a:solidFill>
            <a:srgbClr val="8E0C20"/>
          </a:solidFill>
          <a:ln/>
        </p:spPr>
      </p:sp>
      <p:pic>
        <p:nvPicPr>
          <p:cNvPr id="12" name="Seller 2 Glyph" descr="preencoded.png">    </p:cNvPr>
          <p:cNvPicPr>
            <a:picLocks noChangeAspect="1"/>
          </p:cNvPicPr>
          <p:nvPr/>
        </p:nvPicPr>
        <p:blipFill>
          <a:blip r:embed="rId2"/>
          <a:stretch>
            <a:fillRect/>
          </a:stretch>
        </p:blipFill>
        <p:spPr>
          <a:xfrm>
            <a:off x="994410" y="3646170"/>
            <a:ext cx="434340" cy="434340"/>
          </a:xfrm>
          <a:prstGeom prst="rect">
            <a:avLst/>
          </a:prstGeom>
        </p:spPr>
      </p:pic>
      <p:sp>
        <p:nvSpPr>
          <p:cNvPr id="13" name="Seller Title 2"/>
          <p:cNvSpPr txBox="1"/>
          <p:nvPr/>
        </p:nvSpPr>
        <p:spPr>
          <a:xfrm>
            <a:off x="1874520" y="3383280"/>
            <a:ext cx="5120640" cy="411480"/>
          </a:xfrm>
          <a:prstGeom prst="rect">
            <a:avLst/>
          </a:prstGeom>
          <a:noFill/>
          <a:ln/>
        </p:spPr>
        <p:txBody>
          <a:bodyPr wrap="square" lIns="0" tIns="0" rIns="0" bIns="0" rtlCol="0" anchor="ctr"/>
          <a:lstStyle/>
          <a:p>
            <a:pPr indent="0" marL="0">
              <a:buNone/>
            </a:pPr>
            <a:r>
              <a:rPr lang="en-US" sz="2000" b="1" dirty="0">
                <a:solidFill>
                  <a:schemeClr val="tx1"/>
                </a:solidFill>
              </a:rPr>
              <a:t>IncrediBites</a:t>
            </a:r>
            <a:endParaRPr lang="en-US" sz="2000" dirty="0"/>
          </a:p>
        </p:txBody>
      </p:sp>
      <p:sp>
        <p:nvSpPr>
          <p:cNvPr id="14" name="Seller Desc 2"/>
          <p:cNvSpPr txBox="1"/>
          <p:nvPr/>
        </p:nvSpPr>
        <p:spPr>
          <a:xfrm>
            <a:off x="1874520" y="3794760"/>
            <a:ext cx="5120640" cy="594360"/>
          </a:xfrm>
          <a:prstGeom prst="rect">
            <a:avLst/>
          </a:prstGeom>
          <a:noFill/>
          <a:ln/>
        </p:spPr>
        <p:txBody>
          <a:bodyPr wrap="square" lIns="0" tIns="0" rIns="0" bIns="0" rtlCol="0" anchor="t"/>
          <a:lstStyle/>
          <a:p>
            <a:pPr indent="0" marL="0">
              <a:buNone/>
            </a:pPr>
            <a:r>
              <a:rPr lang="en-US" sz="1500" dirty="0">
                <a:solidFill>
                  <a:schemeClr val="tx2"/>
                </a:solidFill>
              </a:rPr>
              <a:t>Small, crunchy kibble sized for small and toy breeds</a:t>
            </a:r>
            <a:endParaRPr lang="en-US" sz="1500" dirty="0"/>
          </a:p>
        </p:txBody>
      </p:sp>
      <p:sp>
        <p:nvSpPr>
          <p:cNvPr id="15" name="Seller Card 3"/>
          <p:cNvSpPr/>
          <p:nvPr/>
        </p:nvSpPr>
        <p:spPr>
          <a:xfrm>
            <a:off x="548640" y="4709160"/>
            <a:ext cx="6675120" cy="1234440"/>
          </a:xfrm>
          <a:prstGeom prst="roundRect">
            <a:avLst>
              <a:gd name="adj" fmla="val 8889"/>
            </a:avLst>
          </a:prstGeom>
          <a:solidFill>
            <a:schemeClr val="bg2"/>
          </a:solidFill>
          <a:ln/>
        </p:spPr>
      </p:sp>
      <p:sp>
        <p:nvSpPr>
          <p:cNvPr id="16" name="Seller 3 Circle"/>
          <p:cNvSpPr/>
          <p:nvPr/>
        </p:nvSpPr>
        <p:spPr>
          <a:xfrm>
            <a:off x="777240" y="4892040"/>
            <a:ext cx="868680" cy="868680"/>
          </a:xfrm>
          <a:prstGeom prst="ellipse">
            <a:avLst/>
          </a:prstGeom>
          <a:solidFill>
            <a:srgbClr val="E04A5F"/>
          </a:solidFill>
          <a:ln/>
        </p:spPr>
      </p:sp>
      <p:pic>
        <p:nvPicPr>
          <p:cNvPr id="17" name="Seller 3 Glyph" descr="preencoded.png">    </p:cNvPr>
          <p:cNvPicPr>
            <a:picLocks noChangeAspect="1"/>
          </p:cNvPicPr>
          <p:nvPr/>
        </p:nvPicPr>
        <p:blipFill>
          <a:blip r:embed="rId3"/>
          <a:stretch>
            <a:fillRect/>
          </a:stretch>
        </p:blipFill>
        <p:spPr>
          <a:xfrm>
            <a:off x="994410" y="5109210"/>
            <a:ext cx="434340" cy="434340"/>
          </a:xfrm>
          <a:prstGeom prst="rect">
            <a:avLst/>
          </a:prstGeom>
        </p:spPr>
      </p:pic>
      <p:sp>
        <p:nvSpPr>
          <p:cNvPr id="18" name="Seller Title 3"/>
          <p:cNvSpPr txBox="1"/>
          <p:nvPr/>
        </p:nvSpPr>
        <p:spPr>
          <a:xfrm>
            <a:off x="1874520" y="4846320"/>
            <a:ext cx="5120640" cy="411480"/>
          </a:xfrm>
          <a:prstGeom prst="rect">
            <a:avLst/>
          </a:prstGeom>
          <a:noFill/>
          <a:ln/>
        </p:spPr>
        <p:txBody>
          <a:bodyPr wrap="square" lIns="0" tIns="0" rIns="0" bIns="0" rtlCol="0" anchor="ctr"/>
          <a:lstStyle/>
          <a:p>
            <a:pPr indent="0" marL="0">
              <a:buNone/>
            </a:pPr>
            <a:r>
              <a:rPr lang="en-US" sz="2000" b="1" dirty="0">
                <a:solidFill>
                  <a:schemeClr val="tx1"/>
                </a:solidFill>
              </a:rPr>
              <a:t>Prepared Meals</a:t>
            </a:r>
            <a:endParaRPr lang="en-US" sz="2000" dirty="0"/>
          </a:p>
        </p:txBody>
      </p:sp>
      <p:sp>
        <p:nvSpPr>
          <p:cNvPr id="19" name="Seller Desc 3"/>
          <p:cNvSpPr txBox="1"/>
          <p:nvPr/>
        </p:nvSpPr>
        <p:spPr>
          <a:xfrm>
            <a:off x="1874520" y="5257800"/>
            <a:ext cx="5120640" cy="594360"/>
          </a:xfrm>
          <a:prstGeom prst="rect">
            <a:avLst/>
          </a:prstGeom>
          <a:noFill/>
          <a:ln/>
        </p:spPr>
        <p:txBody>
          <a:bodyPr wrap="square" lIns="0" tIns="0" rIns="0" bIns="0" rtlCol="0" anchor="t"/>
          <a:lstStyle/>
          <a:p>
            <a:pPr indent="0" marL="0">
              <a:buNone/>
            </a:pPr>
            <a:r>
              <a:rPr lang="en-US" sz="1500" dirty="0">
                <a:solidFill>
                  <a:schemeClr val="tx2"/>
                </a:solidFill>
              </a:rPr>
              <a:t>Ready-to-serve stews owners use as a full meal or a topper</a:t>
            </a:r>
            <a:endParaRPr lang="en-US" sz="1500" dirty="0"/>
          </a:p>
        </p:txBody>
      </p:sp>
      <p:sp>
        <p:nvSpPr>
          <p:cNvPr id="20" name="Insight Panel"/>
          <p:cNvSpPr/>
          <p:nvPr/>
        </p:nvSpPr>
        <p:spPr>
          <a:xfrm>
            <a:off x="7589520" y="1783080"/>
            <a:ext cx="4050792" cy="4160520"/>
          </a:xfrm>
          <a:prstGeom prst="roundRect">
            <a:avLst>
              <a:gd name="adj" fmla="val 3386"/>
            </a:avLst>
          </a:prstGeom>
          <a:solidFill>
            <a:schemeClr val="accent1"/>
          </a:solidFill>
          <a:ln/>
        </p:spPr>
      </p:sp>
      <p:sp>
        <p:nvSpPr>
          <p:cNvPr id="21" name="Insight Label"/>
          <p:cNvSpPr txBox="1"/>
          <p:nvPr/>
        </p:nvSpPr>
        <p:spPr>
          <a:xfrm>
            <a:off x="7955280" y="2103120"/>
            <a:ext cx="3383280" cy="320040"/>
          </a:xfrm>
          <a:prstGeom prst="rect">
            <a:avLst/>
          </a:prstGeom>
          <a:noFill/>
          <a:ln/>
        </p:spPr>
        <p:txBody>
          <a:bodyPr wrap="square" lIns="0" tIns="0" rIns="0" bIns="0" rtlCol="0" anchor="ctr"/>
          <a:lstStyle/>
          <a:p>
            <a:pPr indent="0" marL="0">
              <a:buNone/>
            </a:pPr>
            <a:r>
              <a:rPr lang="en-US" sz="1300" b="1" spc="300" kern="0" dirty="0">
                <a:solidFill>
                  <a:schemeClr val="accent2"/>
                </a:solidFill>
              </a:rPr>
              <a:t>MARKET INSIGHT</a:t>
            </a:r>
            <a:endParaRPr lang="en-US" sz="1300" dirty="0"/>
          </a:p>
        </p:txBody>
      </p:sp>
      <p:sp>
        <p:nvSpPr>
          <p:cNvPr id="22" name="Insight Text"/>
          <p:cNvSpPr txBox="1"/>
          <p:nvPr/>
        </p:nvSpPr>
        <p:spPr>
          <a:xfrm>
            <a:off x="7955280" y="2560320"/>
            <a:ext cx="3337560" cy="2377440"/>
          </a:xfrm>
          <a:prstGeom prst="rect">
            <a:avLst/>
          </a:prstGeom>
          <a:noFill/>
          <a:ln/>
        </p:spPr>
        <p:txBody>
          <a:bodyPr wrap="square" lIns="0" tIns="0" rIns="0" bIns="0" rtlCol="0" anchor="t"/>
          <a:lstStyle/>
          <a:p>
            <a:pPr indent="0" marL="0">
              <a:buNone/>
            </a:pPr>
            <a:r>
              <a:rPr lang="en-US" sz="2100" i="1" dirty="0">
                <a:solidFill>
                  <a:schemeClr val="bg1"/>
                </a:solidFill>
                <a:latin typeface="Cambria" pitchFamily="34" charset="0"/>
                <a:ea typeface="Cambria" pitchFamily="34" charset="-122"/>
                <a:cs typeface="Cambria" pitchFamily="34" charset="-120"/>
              </a:rPr>
              <a:t>Dry food is still the backbone of U.S. dog food — and more owners are adding wet food as a mealtime upgrade.</a:t>
            </a:r>
            <a:endParaRPr lang="en-US" sz="2100" dirty="0"/>
          </a:p>
        </p:txBody>
      </p:sp>
      <p:sp>
        <p:nvSpPr>
          <p:cNvPr id="23" name="Insight Kicker"/>
          <p:cNvSpPr txBox="1"/>
          <p:nvPr/>
        </p:nvSpPr>
        <p:spPr>
          <a:xfrm>
            <a:off x="7955280" y="5120640"/>
            <a:ext cx="3337560" cy="457200"/>
          </a:xfrm>
          <a:prstGeom prst="rect">
            <a:avLst/>
          </a:prstGeom>
          <a:noFill/>
          <a:ln/>
        </p:spPr>
        <p:txBody>
          <a:bodyPr wrap="square" lIns="0" tIns="0" rIns="0" bIns="0" rtlCol="0" anchor="ctr"/>
          <a:lstStyle/>
          <a:p>
            <a:pPr indent="0" marL="0">
              <a:buNone/>
            </a:pPr>
            <a:r>
              <a:rPr lang="en-US" sz="1800" b="1" dirty="0">
                <a:solidFill>
                  <a:schemeClr val="accent2"/>
                </a:solidFill>
              </a:rPr>
              <a:t>Beneful sells both.</a:t>
            </a:r>
            <a:endParaRPr lang="en-US" sz="1800" dirty="0"/>
          </a:p>
        </p:txBody>
      </p:sp>
      <p:sp>
        <p:nvSpPr>
          <p:cNvPr id="25" name="Slide Number Placeholder 0"/>
          <p:cNvSpPr>
            <a:spLocks noGrp="1"/>
          </p:cNvSpPr>
          <p:nvPr>
            <p:ph type="sldNum" sz="quarter" idx="4294967295"/>
          </p:nvPr>
        </p:nvSpPr>
        <p:spPr>
          <a:xfrm>
            <a:off x="5486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04  ·  MARKETING</a:t>
            </a:r>
            <a:endParaRPr lang="en-US" sz="13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Matching Products to Consumer Groups</a:t>
            </a:r>
            <a:endParaRPr lang="en-US" sz="3600" dirty="0"/>
          </a:p>
        </p:txBody>
      </p:sp>
      <p:sp>
        <p:nvSpPr>
          <p:cNvPr id="4" name="Text 0"/>
          <p:cNvSpPr/>
          <p:nvPr>
            <p:ph idx="102" type="body" hasCustomPrompt="1"/>
          </p:nvPr>
        </p:nvSpPr>
        <p:spPr>
          <a:xfrm>
            <a:off x="5669280" y="6327648"/>
            <a:ext cx="5971032" cy="320040"/>
          </a:xfrm>
          <a:prstGeom prst="rect">
            <a:avLst/>
          </a:prstGeom>
          <a:noFill/>
          <a:ln/>
        </p:spPr>
        <p:txBody>
          <a:bodyPr wrap="square" lIns="0" tIns="0" rIns="0" bIns="0" rtlCol="0" anchor="ctr"/>
          <a:lstStyle/>
          <a:p>
            <a:pPr algn="r" indent="0" marL="0">
              <a:buNone/>
            </a:pPr>
            <a:r>
              <a:rPr lang="en-US" sz="1100" i="1" dirty="0">
                <a:solidFill>
                  <a:schemeClr val="tx2"/>
                </a:solidFill>
              </a:rPr>
              <a:t>Source: (Owen, 2026; Purina, n.d.)</a:t>
            </a:r>
            <a:endParaRPr lang="en-US" sz="1100" dirty="0"/>
          </a:p>
        </p:txBody>
      </p:sp>
      <p:sp>
        <p:nvSpPr>
          <p:cNvPr id="5" name="Group Card 1"/>
          <p:cNvSpPr/>
          <p:nvPr/>
        </p:nvSpPr>
        <p:spPr>
          <a:xfrm>
            <a:off x="548640" y="1783080"/>
            <a:ext cx="5394960" cy="1874520"/>
          </a:xfrm>
          <a:prstGeom prst="roundRect">
            <a:avLst>
              <a:gd name="adj" fmla="val 5854"/>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6" name="Group 1 Circle"/>
          <p:cNvSpPr/>
          <p:nvPr/>
        </p:nvSpPr>
        <p:spPr>
          <a:xfrm>
            <a:off x="822960" y="2057400"/>
            <a:ext cx="822960" cy="822960"/>
          </a:xfrm>
          <a:prstGeom prst="ellipse">
            <a:avLst/>
          </a:prstGeom>
          <a:solidFill>
            <a:srgbClr val="C8102E"/>
          </a:solidFill>
          <a:ln/>
        </p:spPr>
      </p:sp>
      <p:pic>
        <p:nvPicPr>
          <p:cNvPr id="7" name="Group 1 Glyph" descr="preencoded.png">    </p:cNvPr>
          <p:cNvPicPr>
            <a:picLocks noChangeAspect="1"/>
          </p:cNvPicPr>
          <p:nvPr/>
        </p:nvPicPr>
        <p:blipFill>
          <a:blip r:embed="rId1"/>
          <a:stretch>
            <a:fillRect/>
          </a:stretch>
        </p:blipFill>
        <p:spPr>
          <a:xfrm>
            <a:off x="1028700" y="2263140"/>
            <a:ext cx="411480" cy="411480"/>
          </a:xfrm>
          <a:prstGeom prst="rect">
            <a:avLst/>
          </a:prstGeom>
        </p:spPr>
      </p:pic>
      <p:sp>
        <p:nvSpPr>
          <p:cNvPr id="8" name="Group Name 1"/>
          <p:cNvSpPr txBox="1"/>
          <p:nvPr/>
        </p:nvSpPr>
        <p:spPr>
          <a:xfrm>
            <a:off x="1874520" y="2057400"/>
            <a:ext cx="3840480" cy="411480"/>
          </a:xfrm>
          <a:prstGeom prst="rect">
            <a:avLst/>
          </a:prstGeom>
          <a:noFill/>
          <a:ln/>
        </p:spPr>
        <p:txBody>
          <a:bodyPr wrap="square" lIns="0" tIns="0" rIns="0" bIns="0" rtlCol="0" anchor="ctr"/>
          <a:lstStyle/>
          <a:p>
            <a:pPr indent="0" marL="0">
              <a:buNone/>
            </a:pPr>
            <a:r>
              <a:rPr lang="en-US" sz="1900" b="1" dirty="0">
                <a:solidFill>
                  <a:schemeClr val="tx1"/>
                </a:solidFill>
              </a:rPr>
              <a:t>Small-dog owners</a:t>
            </a:r>
            <a:endParaRPr lang="en-US" sz="1900" dirty="0"/>
          </a:p>
        </p:txBody>
      </p:sp>
      <p:sp>
        <p:nvSpPr>
          <p:cNvPr id="9" name="Group Product 1"/>
          <p:cNvSpPr txBox="1"/>
          <p:nvPr/>
        </p:nvSpPr>
        <p:spPr>
          <a:xfrm>
            <a:off x="1874520" y="2514600"/>
            <a:ext cx="3840480" cy="365760"/>
          </a:xfrm>
          <a:prstGeom prst="rect">
            <a:avLst/>
          </a:prstGeom>
          <a:noFill/>
          <a:ln/>
        </p:spPr>
        <p:txBody>
          <a:bodyPr wrap="square" lIns="0" tIns="0" rIns="0" bIns="0" rtlCol="0" anchor="ctr"/>
          <a:lstStyle/>
          <a:p>
            <a:pPr indent="0" marL="0">
              <a:buNone/>
            </a:pPr>
            <a:r>
              <a:rPr lang="en-US" sz="1700" b="1" dirty="0">
                <a:solidFill>
                  <a:schemeClr val="accent1"/>
                </a:solidFill>
              </a:rPr>
              <a:t>→  </a:t>
            </a:r>
            <a:pPr indent="0" marL="0">
              <a:buNone/>
            </a:pPr>
            <a:r>
              <a:rPr lang="en-US" sz="1700" b="1" dirty="0">
                <a:solidFill>
                  <a:schemeClr val="accent1"/>
                </a:solidFill>
              </a:rPr>
              <a:t>IncrediBites</a:t>
            </a:r>
            <a:endParaRPr lang="en-US" sz="1700" dirty="0"/>
          </a:p>
        </p:txBody>
      </p:sp>
      <p:sp>
        <p:nvSpPr>
          <p:cNvPr id="10" name="Group Message 1"/>
          <p:cNvSpPr txBox="1"/>
          <p:nvPr/>
        </p:nvSpPr>
        <p:spPr>
          <a:xfrm>
            <a:off x="1874520" y="2926080"/>
            <a:ext cx="3840480" cy="502920"/>
          </a:xfrm>
          <a:prstGeom prst="rect">
            <a:avLst/>
          </a:prstGeom>
          <a:noFill/>
          <a:ln/>
        </p:spPr>
        <p:txBody>
          <a:bodyPr wrap="square" lIns="0" tIns="0" rIns="0" bIns="0" rtlCol="0" anchor="t"/>
          <a:lstStyle/>
          <a:p>
            <a:pPr indent="0" marL="0">
              <a:buNone/>
            </a:pPr>
            <a:r>
              <a:rPr lang="en-US" sz="1500" dirty="0">
                <a:solidFill>
                  <a:schemeClr val="tx2"/>
                </a:solidFill>
              </a:rPr>
              <a:t>Kibble and portions sized for little mouths</a:t>
            </a:r>
            <a:endParaRPr lang="en-US" sz="1500" dirty="0"/>
          </a:p>
        </p:txBody>
      </p:sp>
      <p:sp>
        <p:nvSpPr>
          <p:cNvPr id="11" name="Group Card 2"/>
          <p:cNvSpPr/>
          <p:nvPr/>
        </p:nvSpPr>
        <p:spPr>
          <a:xfrm>
            <a:off x="6248095" y="1783080"/>
            <a:ext cx="5394960" cy="1874520"/>
          </a:xfrm>
          <a:prstGeom prst="roundRect">
            <a:avLst>
              <a:gd name="adj" fmla="val 5854"/>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Group 2 Circle"/>
          <p:cNvSpPr/>
          <p:nvPr/>
        </p:nvSpPr>
        <p:spPr>
          <a:xfrm>
            <a:off x="6522415" y="2057400"/>
            <a:ext cx="822960" cy="822960"/>
          </a:xfrm>
          <a:prstGeom prst="ellipse">
            <a:avLst/>
          </a:prstGeom>
          <a:solidFill>
            <a:srgbClr val="8E0C20"/>
          </a:solidFill>
          <a:ln/>
        </p:spPr>
      </p:sp>
      <p:pic>
        <p:nvPicPr>
          <p:cNvPr id="13" name="Group 2 Glyph" descr="preencoded.png">    </p:cNvPr>
          <p:cNvPicPr>
            <a:picLocks noChangeAspect="1"/>
          </p:cNvPicPr>
          <p:nvPr/>
        </p:nvPicPr>
        <p:blipFill>
          <a:blip r:embed="rId2"/>
          <a:stretch>
            <a:fillRect/>
          </a:stretch>
        </p:blipFill>
        <p:spPr>
          <a:xfrm>
            <a:off x="6728155" y="2263140"/>
            <a:ext cx="411480" cy="411480"/>
          </a:xfrm>
          <a:prstGeom prst="rect">
            <a:avLst/>
          </a:prstGeom>
        </p:spPr>
      </p:pic>
      <p:sp>
        <p:nvSpPr>
          <p:cNvPr id="14" name="Group Name 2"/>
          <p:cNvSpPr txBox="1"/>
          <p:nvPr/>
        </p:nvSpPr>
        <p:spPr>
          <a:xfrm>
            <a:off x="7573975" y="2057400"/>
            <a:ext cx="3840480" cy="411480"/>
          </a:xfrm>
          <a:prstGeom prst="rect">
            <a:avLst/>
          </a:prstGeom>
          <a:noFill/>
          <a:ln/>
        </p:spPr>
        <p:txBody>
          <a:bodyPr wrap="square" lIns="0" tIns="0" rIns="0" bIns="0" rtlCol="0" anchor="ctr"/>
          <a:lstStyle/>
          <a:p>
            <a:pPr indent="0" marL="0">
              <a:buNone/>
            </a:pPr>
            <a:r>
              <a:rPr lang="en-US" sz="1900" b="1" dirty="0">
                <a:solidFill>
                  <a:schemeClr val="tx1"/>
                </a:solidFill>
              </a:rPr>
              <a:t>Weight-conscious owners</a:t>
            </a:r>
            <a:endParaRPr lang="en-US" sz="1900" dirty="0"/>
          </a:p>
        </p:txBody>
      </p:sp>
      <p:sp>
        <p:nvSpPr>
          <p:cNvPr id="15" name="Group Product 2"/>
          <p:cNvSpPr txBox="1"/>
          <p:nvPr/>
        </p:nvSpPr>
        <p:spPr>
          <a:xfrm>
            <a:off x="7573975" y="2514600"/>
            <a:ext cx="3840480" cy="365760"/>
          </a:xfrm>
          <a:prstGeom prst="rect">
            <a:avLst/>
          </a:prstGeom>
          <a:noFill/>
          <a:ln/>
        </p:spPr>
        <p:txBody>
          <a:bodyPr wrap="square" lIns="0" tIns="0" rIns="0" bIns="0" rtlCol="0" anchor="ctr"/>
          <a:lstStyle/>
          <a:p>
            <a:pPr indent="0" marL="0">
              <a:buNone/>
            </a:pPr>
            <a:r>
              <a:rPr lang="en-US" sz="1700" b="1" dirty="0">
                <a:solidFill>
                  <a:schemeClr val="accent1"/>
                </a:solidFill>
              </a:rPr>
              <a:t>→  </a:t>
            </a:r>
            <a:pPr indent="0" marL="0">
              <a:buNone/>
            </a:pPr>
            <a:r>
              <a:rPr lang="en-US" sz="1700" b="1" dirty="0">
                <a:solidFill>
                  <a:schemeClr val="accent1"/>
                </a:solidFill>
              </a:rPr>
              <a:t>Healthy Weight</a:t>
            </a:r>
            <a:endParaRPr lang="en-US" sz="1700" dirty="0"/>
          </a:p>
        </p:txBody>
      </p:sp>
      <p:sp>
        <p:nvSpPr>
          <p:cNvPr id="16" name="Group Message 2"/>
          <p:cNvSpPr txBox="1"/>
          <p:nvPr/>
        </p:nvSpPr>
        <p:spPr>
          <a:xfrm>
            <a:off x="7573975" y="2926080"/>
            <a:ext cx="3840480" cy="502920"/>
          </a:xfrm>
          <a:prstGeom prst="rect">
            <a:avLst/>
          </a:prstGeom>
          <a:noFill/>
          <a:ln/>
        </p:spPr>
        <p:txBody>
          <a:bodyPr wrap="square" lIns="0" tIns="0" rIns="0" bIns="0" rtlCol="0" anchor="t"/>
          <a:lstStyle/>
          <a:p>
            <a:pPr indent="0" marL="0">
              <a:buNone/>
            </a:pPr>
            <a:r>
              <a:rPr lang="en-US" sz="1500" dirty="0">
                <a:solidFill>
                  <a:schemeClr val="tx2"/>
                </a:solidFill>
              </a:rPr>
              <a:t>Fewer calories, same great taste</a:t>
            </a:r>
            <a:endParaRPr lang="en-US" sz="1500" dirty="0"/>
          </a:p>
        </p:txBody>
      </p:sp>
      <p:sp>
        <p:nvSpPr>
          <p:cNvPr id="17" name="Group Card 3"/>
          <p:cNvSpPr/>
          <p:nvPr/>
        </p:nvSpPr>
        <p:spPr>
          <a:xfrm>
            <a:off x="548640" y="3977640"/>
            <a:ext cx="5394960" cy="1874520"/>
          </a:xfrm>
          <a:prstGeom prst="roundRect">
            <a:avLst>
              <a:gd name="adj" fmla="val 5854"/>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8" name="Group 3 Circle"/>
          <p:cNvSpPr/>
          <p:nvPr/>
        </p:nvSpPr>
        <p:spPr>
          <a:xfrm>
            <a:off x="822960" y="4251960"/>
            <a:ext cx="822960" cy="822960"/>
          </a:xfrm>
          <a:prstGeom prst="ellipse">
            <a:avLst/>
          </a:prstGeom>
          <a:solidFill>
            <a:srgbClr val="E04A5F"/>
          </a:solidFill>
          <a:ln/>
        </p:spPr>
      </p:sp>
      <p:pic>
        <p:nvPicPr>
          <p:cNvPr id="19" name="Group 3 Glyph" descr="preencoded.png">    </p:cNvPr>
          <p:cNvPicPr>
            <a:picLocks noChangeAspect="1"/>
          </p:cNvPicPr>
          <p:nvPr/>
        </p:nvPicPr>
        <p:blipFill>
          <a:blip r:embed="rId3"/>
          <a:stretch>
            <a:fillRect/>
          </a:stretch>
        </p:blipFill>
        <p:spPr>
          <a:xfrm>
            <a:off x="1028700" y="4457700"/>
            <a:ext cx="411480" cy="411480"/>
          </a:xfrm>
          <a:prstGeom prst="rect">
            <a:avLst/>
          </a:prstGeom>
        </p:spPr>
      </p:pic>
      <p:sp>
        <p:nvSpPr>
          <p:cNvPr id="20" name="Group Name 3"/>
          <p:cNvSpPr txBox="1"/>
          <p:nvPr/>
        </p:nvSpPr>
        <p:spPr>
          <a:xfrm>
            <a:off x="1874520" y="4251960"/>
            <a:ext cx="3840480" cy="411480"/>
          </a:xfrm>
          <a:prstGeom prst="rect">
            <a:avLst/>
          </a:prstGeom>
          <a:noFill/>
          <a:ln/>
        </p:spPr>
        <p:txBody>
          <a:bodyPr wrap="square" lIns="0" tIns="0" rIns="0" bIns="0" rtlCol="0" anchor="ctr"/>
          <a:lstStyle/>
          <a:p>
            <a:pPr indent="0" marL="0">
              <a:buNone/>
            </a:pPr>
            <a:r>
              <a:rPr lang="en-US" sz="1900" b="1" dirty="0">
                <a:solidFill>
                  <a:schemeClr val="tx1"/>
                </a:solidFill>
              </a:rPr>
              <a:t>Ingredient-focused “pet parents”</a:t>
            </a:r>
            <a:endParaRPr lang="en-US" sz="1900" dirty="0"/>
          </a:p>
        </p:txBody>
      </p:sp>
      <p:sp>
        <p:nvSpPr>
          <p:cNvPr id="21" name="Group Product 3"/>
          <p:cNvSpPr txBox="1"/>
          <p:nvPr/>
        </p:nvSpPr>
        <p:spPr>
          <a:xfrm>
            <a:off x="1874520" y="4709160"/>
            <a:ext cx="3840480" cy="365760"/>
          </a:xfrm>
          <a:prstGeom prst="rect">
            <a:avLst/>
          </a:prstGeom>
          <a:noFill/>
          <a:ln/>
        </p:spPr>
        <p:txBody>
          <a:bodyPr wrap="square" lIns="0" tIns="0" rIns="0" bIns="0" rtlCol="0" anchor="ctr"/>
          <a:lstStyle/>
          <a:p>
            <a:pPr indent="0" marL="0">
              <a:buNone/>
            </a:pPr>
            <a:r>
              <a:rPr lang="en-US" sz="1700" b="1" dirty="0">
                <a:solidFill>
                  <a:schemeClr val="accent1"/>
                </a:solidFill>
              </a:rPr>
              <a:t>→  </a:t>
            </a:r>
            <a:pPr indent="0" marL="0">
              <a:buNone/>
            </a:pPr>
            <a:r>
              <a:rPr lang="en-US" sz="1700" b="1" dirty="0">
                <a:solidFill>
                  <a:schemeClr val="accent1"/>
                </a:solidFill>
              </a:rPr>
              <a:t>Grain Free</a:t>
            </a:r>
            <a:endParaRPr lang="en-US" sz="1700" dirty="0"/>
          </a:p>
        </p:txBody>
      </p:sp>
      <p:sp>
        <p:nvSpPr>
          <p:cNvPr id="22" name="Group Message 3"/>
          <p:cNvSpPr txBox="1"/>
          <p:nvPr/>
        </p:nvSpPr>
        <p:spPr>
          <a:xfrm>
            <a:off x="1874520" y="5120640"/>
            <a:ext cx="3840480" cy="502920"/>
          </a:xfrm>
          <a:prstGeom prst="rect">
            <a:avLst/>
          </a:prstGeom>
          <a:noFill/>
          <a:ln/>
        </p:spPr>
        <p:txBody>
          <a:bodyPr wrap="square" lIns="0" tIns="0" rIns="0" bIns="0" rtlCol="0" anchor="t"/>
          <a:lstStyle/>
          <a:p>
            <a:pPr indent="0" marL="0">
              <a:buNone/>
            </a:pPr>
            <a:r>
              <a:rPr lang="en-US" sz="1500" dirty="0">
                <a:solidFill>
                  <a:schemeClr val="tx2"/>
                </a:solidFill>
              </a:rPr>
              <a:t>Real meat first, no corn, wheat or soy</a:t>
            </a:r>
            <a:endParaRPr lang="en-US" sz="1500" dirty="0"/>
          </a:p>
        </p:txBody>
      </p:sp>
      <p:sp>
        <p:nvSpPr>
          <p:cNvPr id="23" name="Group Card 4"/>
          <p:cNvSpPr/>
          <p:nvPr/>
        </p:nvSpPr>
        <p:spPr>
          <a:xfrm>
            <a:off x="6248095" y="3977640"/>
            <a:ext cx="5394960" cy="1874520"/>
          </a:xfrm>
          <a:prstGeom prst="roundRect">
            <a:avLst>
              <a:gd name="adj" fmla="val 5854"/>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Group 4 Circle"/>
          <p:cNvSpPr/>
          <p:nvPr/>
        </p:nvSpPr>
        <p:spPr>
          <a:xfrm>
            <a:off x="6522415" y="4251960"/>
            <a:ext cx="822960" cy="822960"/>
          </a:xfrm>
          <a:prstGeom prst="ellipse">
            <a:avLst/>
          </a:prstGeom>
          <a:solidFill>
            <a:srgbClr val="5C0A16"/>
          </a:solidFill>
          <a:ln/>
        </p:spPr>
      </p:sp>
      <p:pic>
        <p:nvPicPr>
          <p:cNvPr id="25" name="Group 4 Glyph" descr="preencoded.png">    </p:cNvPr>
          <p:cNvPicPr>
            <a:picLocks noChangeAspect="1"/>
          </p:cNvPicPr>
          <p:nvPr/>
        </p:nvPicPr>
        <p:blipFill>
          <a:blip r:embed="rId4"/>
          <a:stretch>
            <a:fillRect/>
          </a:stretch>
        </p:blipFill>
        <p:spPr>
          <a:xfrm>
            <a:off x="6728155" y="4457700"/>
            <a:ext cx="411480" cy="411480"/>
          </a:xfrm>
          <a:prstGeom prst="rect">
            <a:avLst/>
          </a:prstGeom>
        </p:spPr>
      </p:pic>
      <p:sp>
        <p:nvSpPr>
          <p:cNvPr id="26" name="Group Name 4"/>
          <p:cNvSpPr txBox="1"/>
          <p:nvPr/>
        </p:nvSpPr>
        <p:spPr>
          <a:xfrm>
            <a:off x="7573975" y="4251960"/>
            <a:ext cx="3840480" cy="411480"/>
          </a:xfrm>
          <a:prstGeom prst="rect">
            <a:avLst/>
          </a:prstGeom>
          <a:noFill/>
          <a:ln/>
        </p:spPr>
        <p:txBody>
          <a:bodyPr wrap="square" lIns="0" tIns="0" rIns="0" bIns="0" rtlCol="0" anchor="ctr"/>
          <a:lstStyle/>
          <a:p>
            <a:pPr indent="0" marL="0">
              <a:buNone/>
            </a:pPr>
            <a:r>
              <a:rPr lang="en-US" sz="1900" b="1" dirty="0">
                <a:solidFill>
                  <a:schemeClr val="tx1"/>
                </a:solidFill>
              </a:rPr>
              <a:t>Value-minded families</a:t>
            </a:r>
            <a:endParaRPr lang="en-US" sz="1900" dirty="0"/>
          </a:p>
        </p:txBody>
      </p:sp>
      <p:sp>
        <p:nvSpPr>
          <p:cNvPr id="27" name="Group Product 4"/>
          <p:cNvSpPr txBox="1"/>
          <p:nvPr/>
        </p:nvSpPr>
        <p:spPr>
          <a:xfrm>
            <a:off x="7573975" y="4709160"/>
            <a:ext cx="3840480" cy="365760"/>
          </a:xfrm>
          <a:prstGeom prst="rect">
            <a:avLst/>
          </a:prstGeom>
          <a:noFill/>
          <a:ln/>
        </p:spPr>
        <p:txBody>
          <a:bodyPr wrap="square" lIns="0" tIns="0" rIns="0" bIns="0" rtlCol="0" anchor="ctr"/>
          <a:lstStyle/>
          <a:p>
            <a:pPr indent="0" marL="0">
              <a:buNone/>
            </a:pPr>
            <a:r>
              <a:rPr lang="en-US" sz="1700" b="1" dirty="0">
                <a:solidFill>
                  <a:schemeClr val="accent1"/>
                </a:solidFill>
              </a:rPr>
              <a:t>→  </a:t>
            </a:r>
            <a:pPr indent="0" marL="0">
              <a:buNone/>
            </a:pPr>
            <a:r>
              <a:rPr lang="en-US" sz="1700" b="1" dirty="0">
                <a:solidFill>
                  <a:schemeClr val="accent1"/>
                </a:solidFill>
              </a:rPr>
              <a:t>Originals</a:t>
            </a:r>
            <a:endParaRPr lang="en-US" sz="1700" dirty="0"/>
          </a:p>
        </p:txBody>
      </p:sp>
      <p:sp>
        <p:nvSpPr>
          <p:cNvPr id="28" name="Group Message 4"/>
          <p:cNvSpPr txBox="1"/>
          <p:nvPr/>
        </p:nvSpPr>
        <p:spPr>
          <a:xfrm>
            <a:off x="7573975" y="5120640"/>
            <a:ext cx="3840480" cy="502920"/>
          </a:xfrm>
          <a:prstGeom prst="rect">
            <a:avLst/>
          </a:prstGeom>
          <a:noFill/>
          <a:ln/>
        </p:spPr>
        <p:txBody>
          <a:bodyPr wrap="square" lIns="0" tIns="0" rIns="0" bIns="0" rtlCol="0" anchor="t"/>
          <a:lstStyle/>
          <a:p>
            <a:pPr indent="0" marL="0">
              <a:buNone/>
            </a:pPr>
            <a:r>
              <a:rPr lang="en-US" sz="1500" dirty="0">
                <a:solidFill>
                  <a:schemeClr val="tx2"/>
                </a:solidFill>
              </a:rPr>
              <a:t>Affordable variety at grocery &amp; mass retailers</a:t>
            </a:r>
            <a:endParaRPr lang="en-US" sz="1500" dirty="0"/>
          </a:p>
        </p:txBody>
      </p:sp>
      <p:sp>
        <p:nvSpPr>
          <p:cNvPr id="25" name="Slide Number Placeholder 0"/>
          <p:cNvSpPr>
            <a:spLocks noGrp="1"/>
          </p:cNvSpPr>
          <p:nvPr>
            <p:ph type="sldNum" sz="quarter" idx="4294967295"/>
          </p:nvPr>
        </p:nvSpPr>
        <p:spPr>
          <a:xfrm>
            <a:off x="5486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transition spd="med">
    <p:push dir="u"/>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STRATEGY 1</a:t>
            </a:r>
            <a:endParaRPr lang="en-US" sz="13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Emotional Marketing: The Dog–Owner Bond</a:t>
            </a:r>
            <a:endParaRPr lang="en-US" sz="3600" dirty="0"/>
          </a:p>
        </p:txBody>
      </p:sp>
      <p:sp>
        <p:nvSpPr>
          <p:cNvPr id="4" name="Text 0"/>
          <p:cNvSpPr/>
          <p:nvPr>
            <p:ph idx="102" type="body" hasCustomPrompt="1"/>
          </p:nvPr>
        </p:nvSpPr>
        <p:spPr>
          <a:xfrm>
            <a:off x="5669280" y="6327648"/>
            <a:ext cx="5971032" cy="320040"/>
          </a:xfrm>
          <a:prstGeom prst="rect">
            <a:avLst/>
          </a:prstGeom>
          <a:noFill/>
          <a:ln/>
        </p:spPr>
        <p:txBody>
          <a:bodyPr wrap="square" lIns="0" tIns="0" rIns="0" bIns="0" rtlCol="0" anchor="ctr"/>
          <a:lstStyle/>
          <a:p>
            <a:pPr algn="r" indent="0" marL="0">
              <a:buNone/>
            </a:pPr>
            <a:r>
              <a:rPr lang="en-US" sz="1100" i="1" dirty="0">
                <a:solidFill>
                  <a:schemeClr val="tx2"/>
                </a:solidFill>
              </a:rPr>
              <a:t>Source: (Owen, 2026; Schoenherr, 2011)</a:t>
            </a:r>
            <a:endParaRPr lang="en-US" sz="1100" dirty="0"/>
          </a:p>
        </p:txBody>
      </p:sp>
      <p:sp>
        <p:nvSpPr>
          <p:cNvPr id="5" name="Emotion 1 Circle"/>
          <p:cNvSpPr/>
          <p:nvPr/>
        </p:nvSpPr>
        <p:spPr>
          <a:xfrm>
            <a:off x="548640" y="1828800"/>
            <a:ext cx="868680" cy="868680"/>
          </a:xfrm>
          <a:prstGeom prst="ellipse">
            <a:avLst/>
          </a:prstGeom>
          <a:solidFill>
            <a:srgbClr val="C8102E"/>
          </a:solidFill>
          <a:ln/>
        </p:spPr>
      </p:sp>
      <p:pic>
        <p:nvPicPr>
          <p:cNvPr id="6" name="Emotion 1 Glyph" descr="preencoded.png">    </p:cNvPr>
          <p:cNvPicPr>
            <a:picLocks noChangeAspect="1"/>
          </p:cNvPicPr>
          <p:nvPr/>
        </p:nvPicPr>
        <p:blipFill>
          <a:blip r:embed="rId1"/>
          <a:stretch>
            <a:fillRect/>
          </a:stretch>
        </p:blipFill>
        <p:spPr>
          <a:xfrm>
            <a:off x="765810" y="2045970"/>
            <a:ext cx="434340" cy="434340"/>
          </a:xfrm>
          <a:prstGeom prst="rect">
            <a:avLst/>
          </a:prstGeom>
        </p:spPr>
      </p:pic>
      <p:sp>
        <p:nvSpPr>
          <p:cNvPr id="7" name="Emotion Title 1"/>
          <p:cNvSpPr txBox="1"/>
          <p:nvPr/>
        </p:nvSpPr>
        <p:spPr>
          <a:xfrm>
            <a:off x="1691640" y="1847088"/>
            <a:ext cx="5394960" cy="411480"/>
          </a:xfrm>
          <a:prstGeom prst="rect">
            <a:avLst/>
          </a:prstGeom>
          <a:noFill/>
          <a:ln/>
        </p:spPr>
        <p:txBody>
          <a:bodyPr wrap="square" lIns="0" tIns="0" rIns="0" bIns="0" rtlCol="0" anchor="ctr"/>
          <a:lstStyle/>
          <a:p>
            <a:pPr indent="0" marL="0">
              <a:buNone/>
            </a:pPr>
            <a:r>
              <a:rPr lang="en-US" sz="2000" b="1" dirty="0">
                <a:solidFill>
                  <a:schemeClr val="tx1"/>
                </a:solidFill>
              </a:rPr>
              <a:t>Celebrates the relationship</a:t>
            </a:r>
            <a:endParaRPr lang="en-US" sz="2000" dirty="0"/>
          </a:p>
        </p:txBody>
      </p:sp>
      <p:sp>
        <p:nvSpPr>
          <p:cNvPr id="8" name="Emotion Desc 1"/>
          <p:cNvSpPr txBox="1"/>
          <p:nvPr/>
        </p:nvSpPr>
        <p:spPr>
          <a:xfrm>
            <a:off x="1691640" y="2286000"/>
            <a:ext cx="5394960" cy="548640"/>
          </a:xfrm>
          <a:prstGeom prst="rect">
            <a:avLst/>
          </a:prstGeom>
          <a:noFill/>
          <a:ln/>
        </p:spPr>
        <p:txBody>
          <a:bodyPr wrap="square" lIns="0" tIns="0" rIns="0" bIns="0" rtlCol="0" anchor="t"/>
          <a:lstStyle/>
          <a:p>
            <a:pPr indent="0" marL="0">
              <a:buNone/>
            </a:pPr>
            <a:r>
              <a:rPr lang="en-US" sz="1600" dirty="0">
                <a:solidFill>
                  <a:schemeClr val="tx2"/>
                </a:solidFill>
              </a:rPr>
              <a:t>Ads center on happy, playful dogs and the people who love them</a:t>
            </a:r>
            <a:endParaRPr lang="en-US" sz="1600" dirty="0"/>
          </a:p>
        </p:txBody>
      </p:sp>
      <p:sp>
        <p:nvSpPr>
          <p:cNvPr id="9" name="Emotion 2 Circle"/>
          <p:cNvSpPr/>
          <p:nvPr/>
        </p:nvSpPr>
        <p:spPr>
          <a:xfrm>
            <a:off x="548640" y="3200400"/>
            <a:ext cx="868680" cy="868680"/>
          </a:xfrm>
          <a:prstGeom prst="ellipse">
            <a:avLst/>
          </a:prstGeom>
          <a:solidFill>
            <a:srgbClr val="8E0C20"/>
          </a:solidFill>
          <a:ln/>
        </p:spPr>
      </p:sp>
      <p:pic>
        <p:nvPicPr>
          <p:cNvPr id="10" name="Emotion 2 Glyph" descr="preencoded.png">    </p:cNvPr>
          <p:cNvPicPr>
            <a:picLocks noChangeAspect="1"/>
          </p:cNvPicPr>
          <p:nvPr/>
        </p:nvPicPr>
        <p:blipFill>
          <a:blip r:embed="rId2"/>
          <a:stretch>
            <a:fillRect/>
          </a:stretch>
        </p:blipFill>
        <p:spPr>
          <a:xfrm>
            <a:off x="765810" y="3417570"/>
            <a:ext cx="434340" cy="434340"/>
          </a:xfrm>
          <a:prstGeom prst="rect">
            <a:avLst/>
          </a:prstGeom>
        </p:spPr>
      </p:pic>
      <p:sp>
        <p:nvSpPr>
          <p:cNvPr id="11" name="Emotion Title 2"/>
          <p:cNvSpPr txBox="1"/>
          <p:nvPr/>
        </p:nvSpPr>
        <p:spPr>
          <a:xfrm>
            <a:off x="1691640" y="3218688"/>
            <a:ext cx="5394960" cy="411480"/>
          </a:xfrm>
          <a:prstGeom prst="rect">
            <a:avLst/>
          </a:prstGeom>
          <a:noFill/>
          <a:ln/>
        </p:spPr>
        <p:txBody>
          <a:bodyPr wrap="square" lIns="0" tIns="0" rIns="0" bIns="0" rtlCol="0" anchor="ctr"/>
          <a:lstStyle/>
          <a:p>
            <a:pPr indent="0" marL="0">
              <a:buNone/>
            </a:pPr>
            <a:r>
              <a:rPr lang="en-US" sz="2000" b="1" dirty="0">
                <a:solidFill>
                  <a:schemeClr val="tx1"/>
                </a:solidFill>
              </a:rPr>
              <a:t>Makes mealtime a moment of joy</a:t>
            </a:r>
            <a:endParaRPr lang="en-US" sz="2000" dirty="0"/>
          </a:p>
        </p:txBody>
      </p:sp>
      <p:sp>
        <p:nvSpPr>
          <p:cNvPr id="12" name="Emotion Desc 2"/>
          <p:cNvSpPr txBox="1"/>
          <p:nvPr/>
        </p:nvSpPr>
        <p:spPr>
          <a:xfrm>
            <a:off x="1691640" y="3657600"/>
            <a:ext cx="5394960" cy="548640"/>
          </a:xfrm>
          <a:prstGeom prst="rect">
            <a:avLst/>
          </a:prstGeom>
          <a:noFill/>
          <a:ln/>
        </p:spPr>
        <p:txBody>
          <a:bodyPr wrap="square" lIns="0" tIns="0" rIns="0" bIns="0" rtlCol="0" anchor="t"/>
          <a:lstStyle/>
          <a:p>
            <a:pPr indent="0" marL="0">
              <a:buNone/>
            </a:pPr>
            <a:r>
              <a:rPr lang="en-US" sz="1600" dirty="0">
                <a:solidFill>
                  <a:schemeClr val="tx2"/>
                </a:solidFill>
              </a:rPr>
              <a:t>Food is framed as a way owners show love every day</a:t>
            </a:r>
            <a:endParaRPr lang="en-US" sz="1600" dirty="0"/>
          </a:p>
        </p:txBody>
      </p:sp>
      <p:sp>
        <p:nvSpPr>
          <p:cNvPr id="13" name="Emotion 3 Circle"/>
          <p:cNvSpPr/>
          <p:nvPr/>
        </p:nvSpPr>
        <p:spPr>
          <a:xfrm>
            <a:off x="548640" y="4572000"/>
            <a:ext cx="868680" cy="868680"/>
          </a:xfrm>
          <a:prstGeom prst="ellipse">
            <a:avLst/>
          </a:prstGeom>
          <a:solidFill>
            <a:srgbClr val="E04A5F"/>
          </a:solidFill>
          <a:ln/>
        </p:spPr>
      </p:sp>
      <p:pic>
        <p:nvPicPr>
          <p:cNvPr id="14" name="Emotion 3 Glyph" descr="preencoded.png">    </p:cNvPr>
          <p:cNvPicPr>
            <a:picLocks noChangeAspect="1"/>
          </p:cNvPicPr>
          <p:nvPr/>
        </p:nvPicPr>
        <p:blipFill>
          <a:blip r:embed="rId3"/>
          <a:stretch>
            <a:fillRect/>
          </a:stretch>
        </p:blipFill>
        <p:spPr>
          <a:xfrm>
            <a:off x="765810" y="4789170"/>
            <a:ext cx="434340" cy="434340"/>
          </a:xfrm>
          <a:prstGeom prst="rect">
            <a:avLst/>
          </a:prstGeom>
        </p:spPr>
      </p:pic>
      <p:sp>
        <p:nvSpPr>
          <p:cNvPr id="15" name="Emotion Title 3"/>
          <p:cNvSpPr txBox="1"/>
          <p:nvPr/>
        </p:nvSpPr>
        <p:spPr>
          <a:xfrm>
            <a:off x="1691640" y="4590288"/>
            <a:ext cx="5394960" cy="411480"/>
          </a:xfrm>
          <a:prstGeom prst="rect">
            <a:avLst/>
          </a:prstGeom>
          <a:noFill/>
          <a:ln/>
        </p:spPr>
        <p:txBody>
          <a:bodyPr wrap="square" lIns="0" tIns="0" rIns="0" bIns="0" rtlCol="0" anchor="ctr"/>
          <a:lstStyle/>
          <a:p>
            <a:pPr indent="0" marL="0">
              <a:buNone/>
            </a:pPr>
            <a:r>
              <a:rPr lang="en-US" sz="2000" b="1" dirty="0">
                <a:solidFill>
                  <a:schemeClr val="tx1"/>
                </a:solidFill>
              </a:rPr>
              <a:t>Speaks to “pets as family”</a:t>
            </a:r>
            <a:endParaRPr lang="en-US" sz="2000" dirty="0"/>
          </a:p>
        </p:txBody>
      </p:sp>
      <p:sp>
        <p:nvSpPr>
          <p:cNvPr id="16" name="Emotion Desc 3"/>
          <p:cNvSpPr txBox="1"/>
          <p:nvPr/>
        </p:nvSpPr>
        <p:spPr>
          <a:xfrm>
            <a:off x="1691640" y="5029200"/>
            <a:ext cx="5394960" cy="548640"/>
          </a:xfrm>
          <a:prstGeom prst="rect">
            <a:avLst/>
          </a:prstGeom>
          <a:noFill/>
          <a:ln/>
        </p:spPr>
        <p:txBody>
          <a:bodyPr wrap="square" lIns="0" tIns="0" rIns="0" bIns="0" rtlCol="0" anchor="t"/>
          <a:lstStyle/>
          <a:p>
            <a:pPr indent="0" marL="0">
              <a:buNone/>
            </a:pPr>
            <a:r>
              <a:rPr lang="en-US" sz="1600" dirty="0">
                <a:solidFill>
                  <a:schemeClr val="tx2"/>
                </a:solidFill>
              </a:rPr>
              <a:t>Owners who see dogs as family want food that reflects it</a:t>
            </a:r>
            <a:endParaRPr lang="en-US" sz="1600" dirty="0"/>
          </a:p>
        </p:txBody>
      </p:sp>
      <p:sp>
        <p:nvSpPr>
          <p:cNvPr id="17" name="Quote Panel"/>
          <p:cNvSpPr/>
          <p:nvPr/>
        </p:nvSpPr>
        <p:spPr>
          <a:xfrm>
            <a:off x="7589520" y="1783080"/>
            <a:ext cx="4050792" cy="4160520"/>
          </a:xfrm>
          <a:prstGeom prst="roundRect">
            <a:avLst>
              <a:gd name="adj" fmla="val 3386"/>
            </a:avLst>
          </a:prstGeom>
          <a:solidFill>
            <a:schemeClr val="accent1"/>
          </a:solidFill>
          <a:ln/>
        </p:spPr>
      </p:sp>
      <p:pic>
        <p:nvPicPr>
          <p:cNvPr id="18" name="Quote Mark" descr="preencoded.png">    </p:cNvPr>
          <p:cNvPicPr>
            <a:picLocks noChangeAspect="1"/>
          </p:cNvPicPr>
          <p:nvPr/>
        </p:nvPicPr>
        <p:blipFill>
          <a:blip r:embed="rId4"/>
          <a:stretch>
            <a:fillRect/>
          </a:stretch>
        </p:blipFill>
        <p:spPr>
          <a:xfrm>
            <a:off x="7955280" y="2148840"/>
            <a:ext cx="640080" cy="640080"/>
          </a:xfrm>
          <a:prstGeom prst="rect">
            <a:avLst/>
          </a:prstGeom>
        </p:spPr>
      </p:pic>
      <p:sp>
        <p:nvSpPr>
          <p:cNvPr id="19" name="Quote Text"/>
          <p:cNvSpPr txBox="1"/>
          <p:nvPr/>
        </p:nvSpPr>
        <p:spPr>
          <a:xfrm>
            <a:off x="7955280" y="2971800"/>
            <a:ext cx="3337560" cy="219456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Dogs in ads grab attention — and the warm feelings they create carry over to the brand.</a:t>
            </a:r>
            <a:endParaRPr lang="en-US" sz="2200" dirty="0"/>
          </a:p>
        </p:txBody>
      </p:sp>
      <p:sp>
        <p:nvSpPr>
          <p:cNvPr id="20" name="Quote Attribution"/>
          <p:cNvSpPr txBox="1"/>
          <p:nvPr/>
        </p:nvSpPr>
        <p:spPr>
          <a:xfrm>
            <a:off x="7955280" y="5257800"/>
            <a:ext cx="3337560" cy="365760"/>
          </a:xfrm>
          <a:prstGeom prst="rect">
            <a:avLst/>
          </a:prstGeom>
          <a:noFill/>
          <a:ln/>
        </p:spPr>
        <p:txBody>
          <a:bodyPr wrap="square" lIns="0" tIns="0" rIns="0" bIns="0" rtlCol="0" anchor="ctr"/>
          <a:lstStyle/>
          <a:p>
            <a:pPr indent="0" marL="0">
              <a:buNone/>
            </a:pPr>
            <a:r>
              <a:rPr lang="en-US" sz="1500" b="1" dirty="0">
                <a:solidFill>
                  <a:schemeClr val="bg2"/>
                </a:solidFill>
              </a:rPr>
              <a:t>— Schoenherr, 2011</a:t>
            </a:r>
            <a:endParaRPr lang="en-US" sz="1500" dirty="0"/>
          </a:p>
        </p:txBody>
      </p:sp>
      <p:sp>
        <p:nvSpPr>
          <p:cNvPr id="25" name="Slide Number Placeholder 0"/>
          <p:cNvSpPr>
            <a:spLocks noGrp="1"/>
          </p:cNvSpPr>
          <p:nvPr>
            <p:ph type="sldNum" sz="quarter" idx="4294967295"/>
          </p:nvPr>
        </p:nvSpPr>
        <p:spPr>
          <a:xfrm>
            <a:off x="5486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STRATEGIES 2 &amp; 3</a:t>
            </a:r>
            <a:endParaRPr lang="en-US" sz="13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Product Proof Meets Digital Reach</a:t>
            </a:r>
            <a:endParaRPr lang="en-US" sz="3600" dirty="0"/>
          </a:p>
        </p:txBody>
      </p:sp>
      <p:sp>
        <p:nvSpPr>
          <p:cNvPr id="4" name="Text 0"/>
          <p:cNvSpPr/>
          <p:nvPr>
            <p:ph idx="102" type="body" hasCustomPrompt="1"/>
          </p:nvPr>
        </p:nvSpPr>
        <p:spPr>
          <a:xfrm>
            <a:off x="5669280" y="6327648"/>
            <a:ext cx="5971032" cy="320040"/>
          </a:xfrm>
          <a:prstGeom prst="rect">
            <a:avLst/>
          </a:prstGeom>
          <a:noFill/>
          <a:ln/>
        </p:spPr>
        <p:txBody>
          <a:bodyPr wrap="square" lIns="0" tIns="0" rIns="0" bIns="0" rtlCol="0" anchor="ctr"/>
          <a:lstStyle/>
          <a:p>
            <a:pPr algn="r" indent="0" marL="0">
              <a:buNone/>
            </a:pPr>
            <a:r>
              <a:rPr lang="en-US" sz="1100" i="1" dirty="0">
                <a:solidFill>
                  <a:schemeClr val="tx2"/>
                </a:solidFill>
              </a:rPr>
              <a:t>Source: (Purina, n.d.; “Purina Launches,” 2015)</a:t>
            </a:r>
            <a:endParaRPr lang="en-US" sz="1100" dirty="0"/>
          </a:p>
        </p:txBody>
      </p:sp>
      <p:sp>
        <p:nvSpPr>
          <p:cNvPr id="5" name="Strategy Card Product-Focused"/>
          <p:cNvSpPr/>
          <p:nvPr/>
        </p:nvSpPr>
        <p:spPr>
          <a:xfrm>
            <a:off x="548640" y="1783080"/>
            <a:ext cx="5394960" cy="2697480"/>
          </a:xfrm>
          <a:prstGeom prst="roundRect">
            <a:avLst>
              <a:gd name="adj" fmla="val 5085"/>
            </a:avLst>
          </a:prstGeom>
          <a:solidFill>
            <a:schemeClr val="bg2"/>
          </a:solidFill>
          <a:ln/>
        </p:spPr>
      </p:sp>
      <p:sp>
        <p:nvSpPr>
          <p:cNvPr id="6" name="Product-Focused Circle"/>
          <p:cNvSpPr/>
          <p:nvPr/>
        </p:nvSpPr>
        <p:spPr>
          <a:xfrm>
            <a:off x="868680" y="2057400"/>
            <a:ext cx="777240" cy="777240"/>
          </a:xfrm>
          <a:prstGeom prst="ellipse">
            <a:avLst/>
          </a:prstGeom>
          <a:solidFill>
            <a:srgbClr val="C8102E"/>
          </a:solidFill>
          <a:ln/>
        </p:spPr>
      </p:sp>
      <p:pic>
        <p:nvPicPr>
          <p:cNvPr id="7" name="Product-Focused Glyph" descr="preencoded.png">    </p:cNvPr>
          <p:cNvPicPr>
            <a:picLocks noChangeAspect="1"/>
          </p:cNvPicPr>
          <p:nvPr/>
        </p:nvPicPr>
        <p:blipFill>
          <a:blip r:embed="rId1"/>
          <a:stretch>
            <a:fillRect/>
          </a:stretch>
        </p:blipFill>
        <p:spPr>
          <a:xfrm>
            <a:off x="1062990" y="2251710"/>
            <a:ext cx="388620" cy="388620"/>
          </a:xfrm>
          <a:prstGeom prst="rect">
            <a:avLst/>
          </a:prstGeom>
        </p:spPr>
      </p:pic>
      <p:sp>
        <p:nvSpPr>
          <p:cNvPr id="8" name="Strategy Title Product-Focused"/>
          <p:cNvSpPr txBox="1"/>
          <p:nvPr/>
        </p:nvSpPr>
        <p:spPr>
          <a:xfrm>
            <a:off x="1874520" y="2057400"/>
            <a:ext cx="3840480" cy="7772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Product-Focused</a:t>
            </a:r>
            <a:endParaRPr lang="en-US" sz="2400" dirty="0"/>
          </a:p>
        </p:txBody>
      </p:sp>
      <p:sp>
        <p:nvSpPr>
          <p:cNvPr id="9" name="Strategy List Product-Focused"/>
          <p:cNvSpPr txBox="1"/>
          <p:nvPr/>
        </p:nvSpPr>
        <p:spPr>
          <a:xfrm>
            <a:off x="914400" y="3063240"/>
            <a:ext cx="4754880" cy="128016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Real meat as a headline ingredient</a:t>
            </a:r>
            <a:endParaRPr lang="en-US" sz="1600" dirty="0"/>
          </a:p>
          <a:p>
            <a:pPr marL="228600" indent="-228600">
              <a:spcAft>
                <a:spcPts val="600"/>
              </a:spcAft>
              <a:buSzPct val="100000"/>
              <a:buChar char="•"/>
            </a:pPr>
            <a:r>
              <a:rPr lang="en-US" sz="1600" dirty="0">
                <a:solidFill>
                  <a:schemeClr val="tx1"/>
                </a:solidFill>
              </a:rPr>
              <a:t>Visible veggies you can see in the bowl</a:t>
            </a:r>
            <a:endParaRPr lang="en-US" sz="1600" dirty="0"/>
          </a:p>
          <a:p>
            <a:pPr marL="228600" indent="-228600">
              <a:spcAft>
                <a:spcPts val="600"/>
              </a:spcAft>
              <a:buSzPct val="100000"/>
              <a:buChar char="•"/>
            </a:pPr>
            <a:r>
              <a:rPr lang="en-US" sz="1600" dirty="0">
                <a:solidFill>
                  <a:schemeClr val="tx1"/>
                </a:solidFill>
              </a:rPr>
              <a:t>Variety of flavors, textures &amp; formats</a:t>
            </a:r>
            <a:endParaRPr lang="en-US" sz="1600" dirty="0"/>
          </a:p>
        </p:txBody>
      </p:sp>
      <p:sp>
        <p:nvSpPr>
          <p:cNvPr id="10" name="Strategy Card Digital &amp; Social Media"/>
          <p:cNvSpPr/>
          <p:nvPr/>
        </p:nvSpPr>
        <p:spPr>
          <a:xfrm>
            <a:off x="6248095" y="1783080"/>
            <a:ext cx="5394960" cy="2697480"/>
          </a:xfrm>
          <a:prstGeom prst="roundRect">
            <a:avLst>
              <a:gd name="adj" fmla="val 5085"/>
            </a:avLst>
          </a:prstGeom>
          <a:solidFill>
            <a:schemeClr val="bg2"/>
          </a:solidFill>
          <a:ln/>
        </p:spPr>
      </p:sp>
      <p:sp>
        <p:nvSpPr>
          <p:cNvPr id="11" name="Digital &amp; Social Media Circle"/>
          <p:cNvSpPr/>
          <p:nvPr/>
        </p:nvSpPr>
        <p:spPr>
          <a:xfrm>
            <a:off x="6568135" y="2057400"/>
            <a:ext cx="777240" cy="777240"/>
          </a:xfrm>
          <a:prstGeom prst="ellipse">
            <a:avLst/>
          </a:prstGeom>
          <a:solidFill>
            <a:srgbClr val="8E0C20"/>
          </a:solidFill>
          <a:ln/>
        </p:spPr>
      </p:sp>
      <p:pic>
        <p:nvPicPr>
          <p:cNvPr id="12" name="Digital &amp; Social Media Glyph" descr="preencoded.png">    </p:cNvPr>
          <p:cNvPicPr>
            <a:picLocks noChangeAspect="1"/>
          </p:cNvPicPr>
          <p:nvPr/>
        </p:nvPicPr>
        <p:blipFill>
          <a:blip r:embed="rId2"/>
          <a:stretch>
            <a:fillRect/>
          </a:stretch>
        </p:blipFill>
        <p:spPr>
          <a:xfrm>
            <a:off x="6762445" y="2251710"/>
            <a:ext cx="388620" cy="388620"/>
          </a:xfrm>
          <a:prstGeom prst="rect">
            <a:avLst/>
          </a:prstGeom>
        </p:spPr>
      </p:pic>
      <p:sp>
        <p:nvSpPr>
          <p:cNvPr id="13" name="Strategy Title Digital &amp;amp; Social Media"/>
          <p:cNvSpPr txBox="1"/>
          <p:nvPr/>
        </p:nvSpPr>
        <p:spPr>
          <a:xfrm>
            <a:off x="7573975" y="2057400"/>
            <a:ext cx="3840480" cy="7772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Digital &amp; Social Media</a:t>
            </a:r>
            <a:endParaRPr lang="en-US" sz="2400" dirty="0"/>
          </a:p>
        </p:txBody>
      </p:sp>
      <p:sp>
        <p:nvSpPr>
          <p:cNvPr id="14" name="Strategy List Digital &amp; Social Media"/>
          <p:cNvSpPr txBox="1"/>
          <p:nvPr/>
        </p:nvSpPr>
        <p:spPr>
          <a:xfrm>
            <a:off x="6613855" y="3063240"/>
            <a:ext cx="4754880" cy="128016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Social posts &amp; online video starring real dogs</a:t>
            </a:r>
            <a:endParaRPr lang="en-US" sz="1600" dirty="0"/>
          </a:p>
          <a:p>
            <a:pPr marL="228600" indent="-228600">
              <a:spcAft>
                <a:spcPts val="600"/>
              </a:spcAft>
              <a:buSzPct val="100000"/>
              <a:buChar char="•"/>
            </a:pPr>
            <a:r>
              <a:rPr lang="en-US" sz="1600" dirty="0">
                <a:solidFill>
                  <a:schemeClr val="tx1"/>
                </a:solidFill>
              </a:rPr>
              <a:t>Product pages, reviews &amp; e-commerce retailers</a:t>
            </a:r>
            <a:endParaRPr lang="en-US" sz="1600" dirty="0"/>
          </a:p>
          <a:p>
            <a:pPr marL="228600" indent="-228600">
              <a:spcAft>
                <a:spcPts val="600"/>
              </a:spcAft>
              <a:buSzPct val="100000"/>
              <a:buChar char="•"/>
            </a:pPr>
            <a:r>
              <a:rPr lang="en-US" sz="1600" dirty="0">
                <a:solidFill>
                  <a:schemeClr val="tx1"/>
                </a:solidFill>
              </a:rPr>
              <a:t>2015: employees &amp; their dogs answer online critics</a:t>
            </a:r>
            <a:endParaRPr lang="en-US" sz="1600" dirty="0"/>
          </a:p>
        </p:txBody>
      </p:sp>
      <p:sp>
        <p:nvSpPr>
          <p:cNvPr id="15" name="Campaign Quote Panel"/>
          <p:cNvSpPr/>
          <p:nvPr/>
        </p:nvSpPr>
        <p:spPr>
          <a:xfrm>
            <a:off x="548640" y="4754880"/>
            <a:ext cx="11091672" cy="1234440"/>
          </a:xfrm>
          <a:prstGeom prst="roundRect">
            <a:avLst>
              <a:gd name="adj" fmla="val 8889"/>
            </a:avLst>
          </a:prstGeom>
          <a:solidFill>
            <a:schemeClr val="accent1"/>
          </a:solidFill>
          <a:ln/>
        </p:spPr>
      </p:sp>
      <p:pic>
        <p:nvPicPr>
          <p:cNvPr id="16" name="Campaign Quote Mark" descr="preencoded.png">    </p:cNvPr>
          <p:cNvPicPr>
            <a:picLocks noChangeAspect="1"/>
          </p:cNvPicPr>
          <p:nvPr/>
        </p:nvPicPr>
        <p:blipFill>
          <a:blip r:embed="rId3"/>
          <a:stretch>
            <a:fillRect/>
          </a:stretch>
        </p:blipFill>
        <p:spPr>
          <a:xfrm>
            <a:off x="868680" y="5029200"/>
            <a:ext cx="502920" cy="502920"/>
          </a:xfrm>
          <a:prstGeom prst="rect">
            <a:avLst/>
          </a:prstGeom>
        </p:spPr>
      </p:pic>
      <p:sp>
        <p:nvSpPr>
          <p:cNvPr id="17" name="Campaign Quote"/>
          <p:cNvSpPr txBox="1"/>
          <p:nvPr/>
        </p:nvSpPr>
        <p:spPr>
          <a:xfrm>
            <a:off x="1600200" y="4846320"/>
            <a:ext cx="9784080" cy="1051560"/>
          </a:xfrm>
          <a:prstGeom prst="rect">
            <a:avLst/>
          </a:prstGeom>
          <a:noFill/>
          <a:ln/>
        </p:spPr>
        <p:txBody>
          <a:bodyPr wrap="square" lIns="0" tIns="0" rIns="0" bIns="0" rtlCol="0" anchor="ctr"/>
          <a:lstStyle/>
          <a:p>
            <a:pPr indent="0" marL="0">
              <a:buNone/>
            </a:pPr>
            <a:r>
              <a:rPr lang="en-US" sz="2000" i="1" dirty="0">
                <a:solidFill>
                  <a:schemeClr val="bg1"/>
                </a:solidFill>
                <a:latin typeface="Cambria" pitchFamily="34" charset="0"/>
                <a:ea typeface="Cambria" pitchFamily="34" charset="-122"/>
                <a:cs typeface="Cambria" pitchFamily="34" charset="-120"/>
              </a:rPr>
              <a:t>“After working here, there’s no other food that I would feed my pets.”</a:t>
            </a:r>
            <a:endParaRPr lang="en-US" sz="2000" dirty="0"/>
          </a:p>
          <a:p>
            <a:pPr indent="0" marL="0">
              <a:buNone/>
            </a:pPr>
            <a:r>
              <a:rPr lang="en-US" sz="1400" b="1" dirty="0">
                <a:solidFill>
                  <a:schemeClr val="accent2"/>
                </a:solidFill>
              </a:rPr>
              <a:t>Purina employee, “I Stand Behind Beneful” campaign (2015)</a:t>
            </a:r>
            <a:endParaRPr lang="en-US" sz="2000" dirty="0"/>
          </a:p>
        </p:txBody>
      </p:sp>
      <p:sp>
        <p:nvSpPr>
          <p:cNvPr id="25" name="Slide Number Placeholder 0"/>
          <p:cNvSpPr>
            <a:spLocks noGrp="1"/>
          </p:cNvSpPr>
          <p:nvPr>
            <p:ph type="sldNum" sz="quarter" idx="4294967295"/>
          </p:nvPr>
        </p:nvSpPr>
        <p:spPr>
          <a:xfrm>
            <a:off x="5486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STRATEGY 4</a:t>
            </a:r>
            <a:endParaRPr lang="en-US" sz="13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Community Engagement: Dream Dog Parks</a:t>
            </a:r>
            <a:endParaRPr lang="en-US" sz="3600" dirty="0"/>
          </a:p>
        </p:txBody>
      </p:sp>
      <p:sp>
        <p:nvSpPr>
          <p:cNvPr id="4" name="Text 0"/>
          <p:cNvSpPr/>
          <p:nvPr>
            <p:ph idx="102" type="body" hasCustomPrompt="1"/>
          </p:nvPr>
        </p:nvSpPr>
        <p:spPr>
          <a:xfrm>
            <a:off x="5669280" y="6327648"/>
            <a:ext cx="5971032" cy="320040"/>
          </a:xfrm>
          <a:prstGeom prst="rect">
            <a:avLst/>
          </a:prstGeom>
          <a:noFill/>
          <a:ln/>
        </p:spPr>
        <p:txBody>
          <a:bodyPr wrap="square" lIns="0" tIns="0" rIns="0" bIns="0" rtlCol="0" anchor="ctr"/>
          <a:lstStyle/>
          <a:p>
            <a:pPr algn="r" indent="0" marL="0">
              <a:buNone/>
            </a:pPr>
            <a:r>
              <a:rPr lang="en-US" sz="1100" i="1" dirty="0">
                <a:solidFill>
                  <a:schemeClr val="tx2"/>
                </a:solidFill>
              </a:rPr>
              <a:t>Source: (Purina, n.d.)</a:t>
            </a:r>
            <a:endParaRPr lang="en-US" sz="1100" dirty="0"/>
          </a:p>
        </p:txBody>
      </p:sp>
      <p:sp>
        <p:nvSpPr>
          <p:cNvPr id="5" name="Stat Panel"/>
          <p:cNvSpPr/>
          <p:nvPr/>
        </p:nvSpPr>
        <p:spPr>
          <a:xfrm>
            <a:off x="548640" y="1783080"/>
            <a:ext cx="4754880" cy="4160520"/>
          </a:xfrm>
          <a:prstGeom prst="roundRect">
            <a:avLst>
              <a:gd name="adj" fmla="val 3297"/>
            </a:avLst>
          </a:prstGeom>
          <a:solidFill>
            <a:schemeClr val="accent1"/>
          </a:solidFill>
          <a:ln/>
        </p:spPr>
      </p:sp>
      <p:sp>
        <p:nvSpPr>
          <p:cNvPr id="6" name="Park Circle"/>
          <p:cNvSpPr/>
          <p:nvPr/>
        </p:nvSpPr>
        <p:spPr>
          <a:xfrm>
            <a:off x="914400" y="2103120"/>
            <a:ext cx="914400" cy="914400"/>
          </a:xfrm>
          <a:prstGeom prst="ellipse">
            <a:avLst/>
          </a:prstGeom>
          <a:solidFill>
            <a:srgbClr val="FFFFFF"/>
          </a:solidFill>
          <a:ln/>
        </p:spPr>
      </p:sp>
      <p:pic>
        <p:nvPicPr>
          <p:cNvPr id="7" name="Park Glyph" descr="preencoded.png">    </p:cNvPr>
          <p:cNvPicPr>
            <a:picLocks noChangeAspect="1"/>
          </p:cNvPicPr>
          <p:nvPr/>
        </p:nvPicPr>
        <p:blipFill>
          <a:blip r:embed="rId1"/>
          <a:stretch>
            <a:fillRect/>
          </a:stretch>
        </p:blipFill>
        <p:spPr>
          <a:xfrm>
            <a:off x="1143000" y="2331720"/>
            <a:ext cx="457200" cy="457200"/>
          </a:xfrm>
          <a:prstGeom prst="rect">
            <a:avLst/>
          </a:prstGeom>
        </p:spPr>
      </p:pic>
      <p:sp>
        <p:nvSpPr>
          <p:cNvPr id="8" name="Stat Number"/>
          <p:cNvSpPr txBox="1"/>
          <p:nvPr/>
        </p:nvSpPr>
        <p:spPr>
          <a:xfrm>
            <a:off x="914400" y="3246120"/>
            <a:ext cx="4114800" cy="1188720"/>
          </a:xfrm>
          <a:prstGeom prst="rect">
            <a:avLst/>
          </a:prstGeom>
          <a:noFill/>
          <a:ln/>
        </p:spPr>
        <p:txBody>
          <a:bodyPr wrap="square" lIns="0" tIns="0" rIns="0" bIns="0" rtlCol="0" anchor="ctr"/>
          <a:lstStyle/>
          <a:p>
            <a:pPr indent="0" marL="0">
              <a:buNone/>
            </a:pPr>
            <a:r>
              <a:rPr lang="en-US" sz="8000" b="1" dirty="0">
                <a:solidFill>
                  <a:schemeClr val="bg1"/>
                </a:solidFill>
                <a:latin typeface="Cambria" pitchFamily="34" charset="0"/>
                <a:ea typeface="Cambria" pitchFamily="34" charset="-122"/>
                <a:cs typeface="Cambria" pitchFamily="34" charset="-120"/>
              </a:rPr>
              <a:t>$500K</a:t>
            </a:r>
            <a:endParaRPr lang="en-US" sz="8000" dirty="0"/>
          </a:p>
        </p:txBody>
      </p:sp>
      <p:sp>
        <p:nvSpPr>
          <p:cNvPr id="9" name="Stat Label"/>
          <p:cNvSpPr txBox="1"/>
          <p:nvPr/>
        </p:nvSpPr>
        <p:spPr>
          <a:xfrm>
            <a:off x="914400" y="4480560"/>
            <a:ext cx="4023360" cy="1097280"/>
          </a:xfrm>
          <a:prstGeom prst="rect">
            <a:avLst/>
          </a:prstGeom>
          <a:noFill/>
          <a:ln/>
        </p:spPr>
        <p:txBody>
          <a:bodyPr wrap="square" lIns="0" tIns="0" rIns="0" bIns="0" rtlCol="0" anchor="t"/>
          <a:lstStyle/>
          <a:p>
            <a:pPr indent="0" marL="0">
              <a:buNone/>
            </a:pPr>
            <a:r>
              <a:rPr lang="en-US" sz="1800" dirty="0">
                <a:solidFill>
                  <a:schemeClr val="bg1"/>
                </a:solidFill>
              </a:rPr>
              <a:t>dog park makeovers awarded through the Beneful Dream Dog Park Project</a:t>
            </a:r>
            <a:endParaRPr lang="en-US" sz="1800" dirty="0"/>
          </a:p>
        </p:txBody>
      </p:sp>
      <p:sp>
        <p:nvSpPr>
          <p:cNvPr id="10" name="Park 1 Circle"/>
          <p:cNvSpPr/>
          <p:nvPr/>
        </p:nvSpPr>
        <p:spPr>
          <a:xfrm>
            <a:off x="5760720" y="1828800"/>
            <a:ext cx="868680" cy="868680"/>
          </a:xfrm>
          <a:prstGeom prst="ellipse">
            <a:avLst/>
          </a:prstGeom>
          <a:solidFill>
            <a:srgbClr val="C8102E"/>
          </a:solidFill>
          <a:ln/>
        </p:spPr>
      </p:sp>
      <p:pic>
        <p:nvPicPr>
          <p:cNvPr id="11" name="Park 1 Glyph" descr="preencoded.png">    </p:cNvPr>
          <p:cNvPicPr>
            <a:picLocks noChangeAspect="1"/>
          </p:cNvPicPr>
          <p:nvPr/>
        </p:nvPicPr>
        <p:blipFill>
          <a:blip r:embed="rId2"/>
          <a:stretch>
            <a:fillRect/>
          </a:stretch>
        </p:blipFill>
        <p:spPr>
          <a:xfrm>
            <a:off x="5977890" y="2045970"/>
            <a:ext cx="434340" cy="434340"/>
          </a:xfrm>
          <a:prstGeom prst="rect">
            <a:avLst/>
          </a:prstGeom>
        </p:spPr>
      </p:pic>
      <p:sp>
        <p:nvSpPr>
          <p:cNvPr id="12" name="Park Title 1"/>
          <p:cNvSpPr txBox="1"/>
          <p:nvPr/>
        </p:nvSpPr>
        <p:spPr>
          <a:xfrm>
            <a:off x="6903720" y="1847088"/>
            <a:ext cx="4754880" cy="411480"/>
          </a:xfrm>
          <a:prstGeom prst="rect">
            <a:avLst/>
          </a:prstGeom>
          <a:noFill/>
          <a:ln/>
        </p:spPr>
        <p:txBody>
          <a:bodyPr wrap="square" lIns="0" tIns="0" rIns="0" bIns="0" rtlCol="0" anchor="ctr"/>
          <a:lstStyle/>
          <a:p>
            <a:pPr indent="0" marL="0">
              <a:buNone/>
            </a:pPr>
            <a:r>
              <a:rPr lang="en-US" sz="2000" b="1" dirty="0">
                <a:solidFill>
                  <a:schemeClr val="tx1"/>
                </a:solidFill>
              </a:rPr>
              <a:t>Communities vote</a:t>
            </a:r>
            <a:endParaRPr lang="en-US" sz="2000" dirty="0"/>
          </a:p>
        </p:txBody>
      </p:sp>
      <p:sp>
        <p:nvSpPr>
          <p:cNvPr id="13" name="Park Desc 1"/>
          <p:cNvSpPr txBox="1"/>
          <p:nvPr/>
        </p:nvSpPr>
        <p:spPr>
          <a:xfrm>
            <a:off x="6903720" y="2286000"/>
            <a:ext cx="4754880" cy="594360"/>
          </a:xfrm>
          <a:prstGeom prst="rect">
            <a:avLst/>
          </a:prstGeom>
          <a:noFill/>
          <a:ln/>
        </p:spPr>
        <p:txBody>
          <a:bodyPr wrap="square" lIns="0" tIns="0" rIns="0" bIns="0" rtlCol="0" anchor="t"/>
          <a:lstStyle/>
          <a:p>
            <a:pPr indent="0" marL="0">
              <a:buNone/>
            </a:pPr>
            <a:r>
              <a:rPr lang="en-US" sz="1600" dirty="0">
                <a:solidFill>
                  <a:schemeClr val="tx2"/>
                </a:solidFill>
              </a:rPr>
              <a:t>Public voting picks the parks that win makeovers</a:t>
            </a:r>
            <a:endParaRPr lang="en-US" sz="1600" dirty="0"/>
          </a:p>
        </p:txBody>
      </p:sp>
      <p:sp>
        <p:nvSpPr>
          <p:cNvPr id="14" name="Park 2 Circle"/>
          <p:cNvSpPr/>
          <p:nvPr/>
        </p:nvSpPr>
        <p:spPr>
          <a:xfrm>
            <a:off x="5760720" y="3200400"/>
            <a:ext cx="868680" cy="868680"/>
          </a:xfrm>
          <a:prstGeom prst="ellipse">
            <a:avLst/>
          </a:prstGeom>
          <a:solidFill>
            <a:srgbClr val="8E0C20"/>
          </a:solidFill>
          <a:ln/>
        </p:spPr>
      </p:sp>
      <p:pic>
        <p:nvPicPr>
          <p:cNvPr id="15" name="Park 2 Glyph" descr="preencoded.png">    </p:cNvPr>
          <p:cNvPicPr>
            <a:picLocks noChangeAspect="1"/>
          </p:cNvPicPr>
          <p:nvPr/>
        </p:nvPicPr>
        <p:blipFill>
          <a:blip r:embed="rId3"/>
          <a:stretch>
            <a:fillRect/>
          </a:stretch>
        </p:blipFill>
        <p:spPr>
          <a:xfrm>
            <a:off x="5977890" y="3417570"/>
            <a:ext cx="434340" cy="434340"/>
          </a:xfrm>
          <a:prstGeom prst="rect">
            <a:avLst/>
          </a:prstGeom>
        </p:spPr>
      </p:pic>
      <p:sp>
        <p:nvSpPr>
          <p:cNvPr id="16" name="Park Title 2"/>
          <p:cNvSpPr txBox="1"/>
          <p:nvPr/>
        </p:nvSpPr>
        <p:spPr>
          <a:xfrm>
            <a:off x="6903720" y="3218688"/>
            <a:ext cx="4754880" cy="411480"/>
          </a:xfrm>
          <a:prstGeom prst="rect">
            <a:avLst/>
          </a:prstGeom>
          <a:noFill/>
          <a:ln/>
        </p:spPr>
        <p:txBody>
          <a:bodyPr wrap="square" lIns="0" tIns="0" rIns="0" bIns="0" rtlCol="0" anchor="ctr"/>
          <a:lstStyle/>
          <a:p>
            <a:pPr indent="0" marL="0">
              <a:buNone/>
            </a:pPr>
            <a:r>
              <a:rPr lang="en-US" sz="2000" b="1" dirty="0">
                <a:solidFill>
                  <a:schemeClr val="tx1"/>
                </a:solidFill>
              </a:rPr>
              <a:t>Local partnerships</a:t>
            </a:r>
            <a:endParaRPr lang="en-US" sz="2000" dirty="0"/>
          </a:p>
        </p:txBody>
      </p:sp>
      <p:sp>
        <p:nvSpPr>
          <p:cNvPr id="17" name="Park Desc 2"/>
          <p:cNvSpPr txBox="1"/>
          <p:nvPr/>
        </p:nvSpPr>
        <p:spPr>
          <a:xfrm>
            <a:off x="6903720" y="3657600"/>
            <a:ext cx="4754880" cy="594360"/>
          </a:xfrm>
          <a:prstGeom prst="rect">
            <a:avLst/>
          </a:prstGeom>
          <a:noFill/>
          <a:ln/>
        </p:spPr>
        <p:txBody>
          <a:bodyPr wrap="square" lIns="0" tIns="0" rIns="0" bIns="0" rtlCol="0" anchor="t"/>
          <a:lstStyle/>
          <a:p>
            <a:pPr indent="0" marL="0">
              <a:buNone/>
            </a:pPr>
            <a:r>
              <a:rPr lang="en-US" sz="1600" dirty="0">
                <a:solidFill>
                  <a:schemeClr val="tx2"/>
                </a:solidFill>
              </a:rPr>
              <a:t>Grants, matching donations &amp; crowdfunding help towns build parks</a:t>
            </a:r>
            <a:endParaRPr lang="en-US" sz="1600" dirty="0"/>
          </a:p>
        </p:txBody>
      </p:sp>
      <p:sp>
        <p:nvSpPr>
          <p:cNvPr id="18" name="Park 3 Circle"/>
          <p:cNvSpPr/>
          <p:nvPr/>
        </p:nvSpPr>
        <p:spPr>
          <a:xfrm>
            <a:off x="5760720" y="4572000"/>
            <a:ext cx="868680" cy="868680"/>
          </a:xfrm>
          <a:prstGeom prst="ellipse">
            <a:avLst/>
          </a:prstGeom>
          <a:solidFill>
            <a:srgbClr val="E04A5F"/>
          </a:solidFill>
          <a:ln/>
        </p:spPr>
      </p:sp>
      <p:pic>
        <p:nvPicPr>
          <p:cNvPr id="19" name="Park 3 Glyph" descr="preencoded.png">    </p:cNvPr>
          <p:cNvPicPr>
            <a:picLocks noChangeAspect="1"/>
          </p:cNvPicPr>
          <p:nvPr/>
        </p:nvPicPr>
        <p:blipFill>
          <a:blip r:embed="rId4"/>
          <a:stretch>
            <a:fillRect/>
          </a:stretch>
        </p:blipFill>
        <p:spPr>
          <a:xfrm>
            <a:off x="5977890" y="4789170"/>
            <a:ext cx="434340" cy="434340"/>
          </a:xfrm>
          <a:prstGeom prst="rect">
            <a:avLst/>
          </a:prstGeom>
        </p:spPr>
      </p:pic>
      <p:sp>
        <p:nvSpPr>
          <p:cNvPr id="20" name="Park Title 3"/>
          <p:cNvSpPr txBox="1"/>
          <p:nvPr/>
        </p:nvSpPr>
        <p:spPr>
          <a:xfrm>
            <a:off x="6903720" y="4590288"/>
            <a:ext cx="4754880" cy="411480"/>
          </a:xfrm>
          <a:prstGeom prst="rect">
            <a:avLst/>
          </a:prstGeom>
          <a:noFill/>
          <a:ln/>
        </p:spPr>
        <p:txBody>
          <a:bodyPr wrap="square" lIns="0" tIns="0" rIns="0" bIns="0" rtlCol="0" anchor="ctr"/>
          <a:lstStyle/>
          <a:p>
            <a:pPr indent="0" marL="0">
              <a:buNone/>
            </a:pPr>
            <a:r>
              <a:rPr lang="en-US" sz="2000" b="1" dirty="0">
                <a:solidFill>
                  <a:schemeClr val="tx1"/>
                </a:solidFill>
              </a:rPr>
              <a:t>Lasting goodwill</a:t>
            </a:r>
            <a:endParaRPr lang="en-US" sz="2000" dirty="0"/>
          </a:p>
        </p:txBody>
      </p:sp>
      <p:sp>
        <p:nvSpPr>
          <p:cNvPr id="21" name="Park Desc 3"/>
          <p:cNvSpPr txBox="1"/>
          <p:nvPr/>
        </p:nvSpPr>
        <p:spPr>
          <a:xfrm>
            <a:off x="6903720" y="5029200"/>
            <a:ext cx="4754880" cy="594360"/>
          </a:xfrm>
          <a:prstGeom prst="rect">
            <a:avLst/>
          </a:prstGeom>
          <a:noFill/>
          <a:ln/>
        </p:spPr>
        <p:txBody>
          <a:bodyPr wrap="square" lIns="0" tIns="0" rIns="0" bIns="0" rtlCol="0" anchor="t"/>
          <a:lstStyle/>
          <a:p>
            <a:pPr indent="0" marL="0">
              <a:buNone/>
            </a:pPr>
            <a:r>
              <a:rPr lang="en-US" sz="1600" dirty="0">
                <a:solidFill>
                  <a:schemeClr val="tx2"/>
                </a:solidFill>
              </a:rPr>
              <a:t>The brand shows up where dog owners actually spend time</a:t>
            </a:r>
            <a:endParaRPr lang="en-US" sz="1600" dirty="0"/>
          </a:p>
        </p:txBody>
      </p:sp>
      <p:sp>
        <p:nvSpPr>
          <p:cNvPr id="25" name="Slide Number Placeholder 0"/>
          <p:cNvSpPr>
            <a:spLocks noGrp="1"/>
          </p:cNvSpPr>
          <p:nvPr>
            <p:ph type="sldNum" sz="quarter" idx="4294967295"/>
          </p:nvPr>
        </p:nvSpPr>
        <p:spPr>
          <a:xfrm>
            <a:off x="5486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300" b="1" spc="300" kern="0" dirty="0">
                <a:solidFill>
                  <a:schemeClr val="accent2"/>
                </a:solidFill>
              </a:rPr>
              <a:t>WRAP-UP</a:t>
            </a:r>
            <a:endParaRPr lang="en-US" sz="13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Key Takeaways</a:t>
            </a:r>
            <a:endParaRPr lang="en-US" sz="3600" dirty="0"/>
          </a:p>
        </p:txBody>
      </p:sp>
      <p:sp>
        <p:nvSpPr>
          <p:cNvPr id="4" name="Text 0"/>
          <p:cNvSpPr/>
          <p:nvPr>
            <p:ph idx="102" type="body" hasCustomPrompt="1"/>
          </p:nvPr>
        </p:nvSpPr>
        <p:spPr>
          <a:xfrm>
            <a:off x="5669280" y="6327648"/>
            <a:ext cx="5971032" cy="320040"/>
          </a:xfrm>
          <a:prstGeom prst="rect">
            <a:avLst/>
          </a:prstGeom>
          <a:noFill/>
          <a:ln/>
        </p:spPr>
        <p:txBody>
          <a:bodyPr wrap="square" lIns="0" tIns="0" rIns="0" bIns="0" rtlCol="0" anchor="ctr"/>
          <a:lstStyle/>
          <a:p>
            <a:pPr algn="r" indent="0" marL="0">
              <a:buNone/>
            </a:pPr>
            <a:r>
              <a:rPr lang="en-US" sz="1100" i="1" dirty="0">
                <a:solidFill>
                  <a:schemeClr val="accent2"/>
                </a:solidFill>
              </a:rPr>
              <a:t>Source: (Owen, 2026; Purina, n.d.)</a:t>
            </a:r>
            <a:endParaRPr lang="en-US" sz="1100" dirty="0"/>
          </a:p>
        </p:txBody>
      </p:sp>
      <p:sp>
        <p:nvSpPr>
          <p:cNvPr id="5" name="Takeaway 1 Circle"/>
          <p:cNvSpPr/>
          <p:nvPr/>
        </p:nvSpPr>
        <p:spPr>
          <a:xfrm>
            <a:off x="548640" y="1828800"/>
            <a:ext cx="868680" cy="868680"/>
          </a:xfrm>
          <a:prstGeom prst="ellipse">
            <a:avLst/>
          </a:prstGeom>
          <a:solidFill>
            <a:srgbClr val="FFFFFF"/>
          </a:solidFill>
          <a:ln/>
        </p:spPr>
      </p:sp>
      <p:pic>
        <p:nvPicPr>
          <p:cNvPr id="6" name="Takeaway 1 Glyph" descr="preencoded.png">    </p:cNvPr>
          <p:cNvPicPr>
            <a:picLocks noChangeAspect="1"/>
          </p:cNvPicPr>
          <p:nvPr/>
        </p:nvPicPr>
        <p:blipFill>
          <a:blip r:embed="rId1"/>
          <a:stretch>
            <a:fillRect/>
          </a:stretch>
        </p:blipFill>
        <p:spPr>
          <a:xfrm>
            <a:off x="765810" y="2045970"/>
            <a:ext cx="434340" cy="434340"/>
          </a:xfrm>
          <a:prstGeom prst="rect">
            <a:avLst/>
          </a:prstGeom>
        </p:spPr>
      </p:pic>
      <p:sp>
        <p:nvSpPr>
          <p:cNvPr id="7" name="Takeaway Title 1"/>
          <p:cNvSpPr txBox="1"/>
          <p:nvPr/>
        </p:nvSpPr>
        <p:spPr>
          <a:xfrm>
            <a:off x="1691640" y="1847088"/>
            <a:ext cx="5394960" cy="411480"/>
          </a:xfrm>
          <a:prstGeom prst="rect">
            <a:avLst/>
          </a:prstGeom>
          <a:noFill/>
          <a:ln/>
        </p:spPr>
        <p:txBody>
          <a:bodyPr wrap="square" lIns="0" tIns="0" rIns="0" bIns="0" rtlCol="0" anchor="ctr"/>
          <a:lstStyle/>
          <a:p>
            <a:pPr indent="0" marL="0">
              <a:buNone/>
            </a:pPr>
            <a:r>
              <a:rPr lang="en-US" sz="2000" b="1" dirty="0">
                <a:solidFill>
                  <a:schemeClr val="accent2"/>
                </a:solidFill>
              </a:rPr>
              <a:t>History</a:t>
            </a:r>
            <a:endParaRPr lang="en-US" sz="2000" dirty="0"/>
          </a:p>
        </p:txBody>
      </p:sp>
      <p:sp>
        <p:nvSpPr>
          <p:cNvPr id="8" name="Takeaway Desc 1"/>
          <p:cNvSpPr txBox="1"/>
          <p:nvPr/>
        </p:nvSpPr>
        <p:spPr>
          <a:xfrm>
            <a:off x="1691640" y="2286000"/>
            <a:ext cx="5394960" cy="685800"/>
          </a:xfrm>
          <a:prstGeom prst="rect">
            <a:avLst/>
          </a:prstGeom>
          <a:noFill/>
          <a:ln/>
        </p:spPr>
        <p:txBody>
          <a:bodyPr wrap="square" lIns="0" tIns="0" rIns="0" bIns="0" rtlCol="0" anchor="t"/>
          <a:lstStyle/>
          <a:p>
            <a:pPr indent="0" marL="0">
              <a:buNone/>
            </a:pPr>
            <a:r>
              <a:rPr lang="en-US" sz="1600" dirty="0">
                <a:solidFill>
                  <a:schemeClr val="bg1"/>
                </a:solidFill>
              </a:rPr>
              <a:t>Launched in 2001, Beneful grew from one dry line into a broad, needs-based portfolio</a:t>
            </a:r>
            <a:endParaRPr lang="en-US" sz="1600" dirty="0"/>
          </a:p>
        </p:txBody>
      </p:sp>
      <p:sp>
        <p:nvSpPr>
          <p:cNvPr id="9" name="Takeaway 2 Circle"/>
          <p:cNvSpPr/>
          <p:nvPr/>
        </p:nvSpPr>
        <p:spPr>
          <a:xfrm>
            <a:off x="548640" y="3200400"/>
            <a:ext cx="868680" cy="868680"/>
          </a:xfrm>
          <a:prstGeom prst="ellipse">
            <a:avLst/>
          </a:prstGeom>
          <a:solidFill>
            <a:srgbClr val="FFFFFF"/>
          </a:solidFill>
          <a:ln/>
        </p:spPr>
      </p:sp>
      <p:pic>
        <p:nvPicPr>
          <p:cNvPr id="10" name="Takeaway 2 Glyph" descr="preencoded.png">    </p:cNvPr>
          <p:cNvPicPr>
            <a:picLocks noChangeAspect="1"/>
          </p:cNvPicPr>
          <p:nvPr/>
        </p:nvPicPr>
        <p:blipFill>
          <a:blip r:embed="rId2"/>
          <a:stretch>
            <a:fillRect/>
          </a:stretch>
        </p:blipFill>
        <p:spPr>
          <a:xfrm>
            <a:off x="765810" y="3417570"/>
            <a:ext cx="434340" cy="434340"/>
          </a:xfrm>
          <a:prstGeom prst="rect">
            <a:avLst/>
          </a:prstGeom>
        </p:spPr>
      </p:pic>
      <p:sp>
        <p:nvSpPr>
          <p:cNvPr id="11" name="Takeaway Title 2"/>
          <p:cNvSpPr txBox="1"/>
          <p:nvPr/>
        </p:nvSpPr>
        <p:spPr>
          <a:xfrm>
            <a:off x="1691640" y="3218688"/>
            <a:ext cx="5394960" cy="411480"/>
          </a:xfrm>
          <a:prstGeom prst="rect">
            <a:avLst/>
          </a:prstGeom>
          <a:noFill/>
          <a:ln/>
        </p:spPr>
        <p:txBody>
          <a:bodyPr wrap="square" lIns="0" tIns="0" rIns="0" bIns="0" rtlCol="0" anchor="ctr"/>
          <a:lstStyle/>
          <a:p>
            <a:pPr indent="0" marL="0">
              <a:buNone/>
            </a:pPr>
            <a:r>
              <a:rPr lang="en-US" sz="2000" b="1" dirty="0">
                <a:solidFill>
                  <a:schemeClr val="accent2"/>
                </a:solidFill>
              </a:rPr>
              <a:t>Products</a:t>
            </a:r>
            <a:endParaRPr lang="en-US" sz="2000" dirty="0"/>
          </a:p>
        </p:txBody>
      </p:sp>
      <p:sp>
        <p:nvSpPr>
          <p:cNvPr id="12" name="Takeaway Desc 2"/>
          <p:cNvSpPr txBox="1"/>
          <p:nvPr/>
        </p:nvSpPr>
        <p:spPr>
          <a:xfrm>
            <a:off x="1691640" y="3657600"/>
            <a:ext cx="5394960" cy="685800"/>
          </a:xfrm>
          <a:prstGeom prst="rect">
            <a:avLst/>
          </a:prstGeom>
          <a:noFill/>
          <a:ln/>
        </p:spPr>
        <p:txBody>
          <a:bodyPr wrap="square" lIns="0" tIns="0" rIns="0" bIns="0" rtlCol="0" anchor="t"/>
          <a:lstStyle/>
          <a:p>
            <a:pPr indent="0" marL="0">
              <a:buNone/>
            </a:pPr>
            <a:r>
              <a:rPr lang="en-US" sz="1600" dirty="0">
                <a:solidFill>
                  <a:schemeClr val="bg1"/>
                </a:solidFill>
              </a:rPr>
              <a:t>Dry food, wet food &amp; treats — led by Originals, IncrediBites &amp; Prepared Meals</a:t>
            </a:r>
            <a:endParaRPr lang="en-US" sz="1600" dirty="0"/>
          </a:p>
        </p:txBody>
      </p:sp>
      <p:sp>
        <p:nvSpPr>
          <p:cNvPr id="13" name="Takeaway 3 Circle"/>
          <p:cNvSpPr/>
          <p:nvPr/>
        </p:nvSpPr>
        <p:spPr>
          <a:xfrm>
            <a:off x="548640" y="4572000"/>
            <a:ext cx="868680" cy="868680"/>
          </a:xfrm>
          <a:prstGeom prst="ellipse">
            <a:avLst/>
          </a:prstGeom>
          <a:solidFill>
            <a:srgbClr val="FFFFFF"/>
          </a:solidFill>
          <a:ln/>
        </p:spPr>
      </p:sp>
      <p:pic>
        <p:nvPicPr>
          <p:cNvPr id="14" name="Takeaway 3 Glyph" descr="preencoded.png">    </p:cNvPr>
          <p:cNvPicPr>
            <a:picLocks noChangeAspect="1"/>
          </p:cNvPicPr>
          <p:nvPr/>
        </p:nvPicPr>
        <p:blipFill>
          <a:blip r:embed="rId3"/>
          <a:stretch>
            <a:fillRect/>
          </a:stretch>
        </p:blipFill>
        <p:spPr>
          <a:xfrm>
            <a:off x="765810" y="4789170"/>
            <a:ext cx="434340" cy="434340"/>
          </a:xfrm>
          <a:prstGeom prst="rect">
            <a:avLst/>
          </a:prstGeom>
        </p:spPr>
      </p:pic>
      <p:sp>
        <p:nvSpPr>
          <p:cNvPr id="15" name="Takeaway Title 3"/>
          <p:cNvSpPr txBox="1"/>
          <p:nvPr/>
        </p:nvSpPr>
        <p:spPr>
          <a:xfrm>
            <a:off x="1691640" y="4590288"/>
            <a:ext cx="5394960" cy="411480"/>
          </a:xfrm>
          <a:prstGeom prst="rect">
            <a:avLst/>
          </a:prstGeom>
          <a:noFill/>
          <a:ln/>
        </p:spPr>
        <p:txBody>
          <a:bodyPr wrap="square" lIns="0" tIns="0" rIns="0" bIns="0" rtlCol="0" anchor="ctr"/>
          <a:lstStyle/>
          <a:p>
            <a:pPr indent="0" marL="0">
              <a:buNone/>
            </a:pPr>
            <a:r>
              <a:rPr lang="en-US" sz="2000" b="1" dirty="0">
                <a:solidFill>
                  <a:schemeClr val="accent2"/>
                </a:solidFill>
              </a:rPr>
              <a:t>Marketing</a:t>
            </a:r>
            <a:endParaRPr lang="en-US" sz="2000" dirty="0"/>
          </a:p>
        </p:txBody>
      </p:sp>
      <p:sp>
        <p:nvSpPr>
          <p:cNvPr id="16" name="Takeaway Desc 3"/>
          <p:cNvSpPr txBox="1"/>
          <p:nvPr/>
        </p:nvSpPr>
        <p:spPr>
          <a:xfrm>
            <a:off x="1691640" y="5029200"/>
            <a:ext cx="5394960" cy="685800"/>
          </a:xfrm>
          <a:prstGeom prst="rect">
            <a:avLst/>
          </a:prstGeom>
          <a:noFill/>
          <a:ln/>
        </p:spPr>
        <p:txBody>
          <a:bodyPr wrap="square" lIns="0" tIns="0" rIns="0" bIns="0" rtlCol="0" anchor="t"/>
          <a:lstStyle/>
          <a:p>
            <a:pPr indent="0" marL="0">
              <a:buNone/>
            </a:pPr>
            <a:r>
              <a:rPr lang="en-US" sz="1600" dirty="0">
                <a:solidFill>
                  <a:schemeClr val="bg1"/>
                </a:solidFill>
              </a:rPr>
              <a:t>Emotion, product proof, digital reach &amp; community build loyalty across groups</a:t>
            </a:r>
            <a:endParaRPr lang="en-US" sz="1600" dirty="0"/>
          </a:p>
        </p:txBody>
      </p:sp>
      <p:sp>
        <p:nvSpPr>
          <p:cNvPr id="17" name="Thanks Panel"/>
          <p:cNvSpPr/>
          <p:nvPr/>
        </p:nvSpPr>
        <p:spPr>
          <a:xfrm>
            <a:off x="7589520" y="1783080"/>
            <a:ext cx="4050792" cy="4160520"/>
          </a:xfrm>
          <a:prstGeom prst="roundRect">
            <a:avLst>
              <a:gd name="adj" fmla="val 3386"/>
            </a:avLst>
          </a:prstGeom>
          <a:solidFill>
            <a:schemeClr val="bg1"/>
          </a:solidFill>
          <a:ln/>
          <a:effectLst>
            <a:outerShdw sx="100000" sy="100000" kx="0" ky="0" algn="bl" rotWithShape="0" blurRad="101600" dist="25400" dir="5400000">
              <a:srgbClr val="000000">
                <a:alpha val="12000"/>
              </a:srgbClr>
            </a:outerShdw>
          </a:effectLst>
        </p:spPr>
      </p:sp>
      <p:sp>
        <p:nvSpPr>
          <p:cNvPr id="18" name="Thanks Paw Circle"/>
          <p:cNvSpPr/>
          <p:nvPr/>
        </p:nvSpPr>
        <p:spPr>
          <a:xfrm>
            <a:off x="9116568" y="2194560"/>
            <a:ext cx="1005840" cy="1005840"/>
          </a:xfrm>
          <a:prstGeom prst="ellipse">
            <a:avLst/>
          </a:prstGeom>
          <a:solidFill>
            <a:srgbClr val="C8102E"/>
          </a:solidFill>
          <a:ln/>
        </p:spPr>
      </p:sp>
      <p:pic>
        <p:nvPicPr>
          <p:cNvPr id="19" name="Thanks Paw Glyph" descr="preencoded.png">    </p:cNvPr>
          <p:cNvPicPr>
            <a:picLocks noChangeAspect="1"/>
          </p:cNvPicPr>
          <p:nvPr/>
        </p:nvPicPr>
        <p:blipFill>
          <a:blip r:embed="rId4"/>
          <a:stretch>
            <a:fillRect/>
          </a:stretch>
        </p:blipFill>
        <p:spPr>
          <a:xfrm>
            <a:off x="9368028" y="2446020"/>
            <a:ext cx="502920" cy="502920"/>
          </a:xfrm>
          <a:prstGeom prst="rect">
            <a:avLst/>
          </a:prstGeom>
        </p:spPr>
      </p:pic>
      <p:sp>
        <p:nvSpPr>
          <p:cNvPr id="20" name="Thanks"/>
          <p:cNvSpPr txBox="1"/>
          <p:nvPr/>
        </p:nvSpPr>
        <p:spPr>
          <a:xfrm>
            <a:off x="7772400" y="3429000"/>
            <a:ext cx="3685032" cy="82296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Thank You!</a:t>
            </a:r>
            <a:endParaRPr lang="en-US" sz="4000" dirty="0"/>
          </a:p>
        </p:txBody>
      </p:sp>
      <p:sp>
        <p:nvSpPr>
          <p:cNvPr id="21" name="Questions"/>
          <p:cNvSpPr txBox="1"/>
          <p:nvPr/>
        </p:nvSpPr>
        <p:spPr>
          <a:xfrm>
            <a:off x="7772400" y="4297680"/>
            <a:ext cx="3685032" cy="548640"/>
          </a:xfrm>
          <a:prstGeom prst="rect">
            <a:avLst/>
          </a:prstGeom>
          <a:noFill/>
          <a:ln/>
        </p:spPr>
        <p:txBody>
          <a:bodyPr wrap="square" lIns="0" tIns="0" rIns="0" bIns="0" rtlCol="0" anchor="ctr"/>
          <a:lstStyle/>
          <a:p>
            <a:pPr algn="ctr" indent="0" marL="0">
              <a:buNone/>
            </a:pPr>
            <a:r>
              <a:rPr lang="en-US" sz="2200" dirty="0">
                <a:solidFill>
                  <a:schemeClr val="tx1"/>
                </a:solidFill>
              </a:rPr>
              <a:t>Questions?</a:t>
            </a:r>
            <a:endParaRPr lang="en-US" sz="2200" dirty="0"/>
          </a:p>
        </p:txBody>
      </p:sp>
      <p:sp>
        <p:nvSpPr>
          <p:cNvPr id="22" name="Thanks Name"/>
          <p:cNvSpPr txBox="1"/>
          <p:nvPr/>
        </p:nvSpPr>
        <p:spPr>
          <a:xfrm>
            <a:off x="7772400" y="5120640"/>
            <a:ext cx="3685032" cy="411480"/>
          </a:xfrm>
          <a:prstGeom prst="rect">
            <a:avLst/>
          </a:prstGeom>
          <a:noFill/>
          <a:ln/>
        </p:spPr>
        <p:txBody>
          <a:bodyPr wrap="square" lIns="0" tIns="0" rIns="0" bIns="0" rtlCol="0" anchor="ctr"/>
          <a:lstStyle/>
          <a:p>
            <a:pPr algn="ctr" indent="0" marL="0">
              <a:buNone/>
            </a:pPr>
            <a:r>
              <a:rPr lang="en-US" sz="1600" b="1" dirty="0">
                <a:solidFill>
                  <a:schemeClr val="tx2"/>
                </a:solidFill>
              </a:rPr>
              <a:t>Greydan Bruckner</a:t>
            </a:r>
            <a:endParaRPr lang="en-US" sz="1600" dirty="0"/>
          </a:p>
        </p:txBody>
      </p:sp>
      <p:sp>
        <p:nvSpPr>
          <p:cNvPr id="25" name="Slide Number Placeholder 0"/>
          <p:cNvSpPr>
            <a:spLocks noGrp="1"/>
          </p:cNvSpPr>
          <p:nvPr>
            <p:ph type="sldNum" sz="quarter" idx="4294967295"/>
          </p:nvPr>
        </p:nvSpPr>
        <p:spPr>
          <a:xfrm>
            <a:off x="5486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2"/>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transition spd="med">
    <p:push dir="u"/>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References</a:t>
            </a:r>
            <a:endParaRPr lang="en-US" sz="3600" dirty="0"/>
          </a:p>
        </p:txBody>
      </p:sp>
      <p:sp>
        <p:nvSpPr>
          <p:cNvPr id="3" name="References List"/>
          <p:cNvSpPr txBox="1"/>
          <p:nvPr/>
        </p:nvSpPr>
        <p:spPr>
          <a:xfrm>
            <a:off x="822960" y="1600200"/>
            <a:ext cx="10515600" cy="4572000"/>
          </a:xfrm>
          <a:prstGeom prst="rect">
            <a:avLst/>
          </a:prstGeom>
          <a:noFill/>
          <a:ln/>
        </p:spPr>
        <p:txBody>
          <a:bodyPr wrap="square" lIns="0" tIns="0" rIns="0" bIns="0" rtlCol="0" anchor="t"/>
          <a:lstStyle/>
          <a:p>
            <a:pPr marL="457200" indent="-457200">
              <a:lnSpc>
                <a:spcPct val="200000"/>
              </a:lnSpc>
              <a:buNone/>
            </a:pPr>
            <a:r>
              <a:rPr lang="en-US" sz="1600" dirty="0">
                <a:solidFill>
                  <a:schemeClr val="tx1"/>
                </a:solidFill>
                <a:latin typeface="Times New Roman" pitchFamily="34" charset="0"/>
                <a:ea typeface="Times New Roman" pitchFamily="34" charset="-122"/>
                <a:cs typeface="Times New Roman" pitchFamily="34" charset="-120"/>
              </a:rPr>
              <a:t>Owen, J. (2026, September 25). </a:t>
            </a:r>
            <a:pPr marL="457200" indent="-457200">
              <a:lnSpc>
                <a:spcPct val="200000"/>
              </a:lnSpc>
              <a:buNone/>
            </a:pPr>
            <a:r>
              <a:rPr lang="en-US" sz="1600" i="1" dirty="0">
                <a:solidFill>
                  <a:schemeClr val="tx1"/>
                </a:solidFill>
                <a:latin typeface="Times New Roman" pitchFamily="34" charset="0"/>
                <a:ea typeface="Times New Roman" pitchFamily="34" charset="-122"/>
                <a:cs typeface="Times New Roman" pitchFamily="34" charset="-120"/>
              </a:rPr>
              <a:t>Pet food – US – 2026</a:t>
            </a:r>
            <a:pPr marL="457200" indent="-457200">
              <a:lnSpc>
                <a:spcPct val="200000"/>
              </a:lnSpc>
              <a:buNone/>
            </a:pPr>
            <a:r>
              <a:rPr lang="en-US" sz="1600" dirty="0">
                <a:solidFill>
                  <a:schemeClr val="tx1"/>
                </a:solidFill>
                <a:latin typeface="Times New Roman" pitchFamily="34" charset="0"/>
                <a:ea typeface="Times New Roman" pitchFamily="34" charset="-122"/>
                <a:cs typeface="Times New Roman" pitchFamily="34" charset="-120"/>
              </a:rPr>
              <a:t>. Mintel. https://clients.mintel.com/report/pet-food-us-2026</a:t>
            </a:r>
            <a:endParaRPr lang="en-US" sz="1600" dirty="0"/>
          </a:p>
          <a:p>
            <a:pPr marL="457200" indent="-457200">
              <a:lnSpc>
                <a:spcPct val="200000"/>
              </a:lnSpc>
              <a:buNone/>
            </a:pPr>
            <a:r>
              <a:rPr lang="en-US" sz="1600" dirty="0">
                <a:solidFill>
                  <a:schemeClr val="tx1"/>
                </a:solidFill>
                <a:latin typeface="Times New Roman" pitchFamily="34" charset="0"/>
                <a:ea typeface="Times New Roman" pitchFamily="34" charset="-122"/>
                <a:cs typeface="Times New Roman" pitchFamily="34" charset="-120"/>
              </a:rPr>
              <a:t>Purina. (n.d.). </a:t>
            </a:r>
            <a:pPr marL="457200" indent="-457200">
              <a:lnSpc>
                <a:spcPct val="200000"/>
              </a:lnSpc>
              <a:buNone/>
            </a:pPr>
            <a:r>
              <a:rPr lang="en-US" sz="1600" i="1" dirty="0">
                <a:solidFill>
                  <a:schemeClr val="tx1"/>
                </a:solidFill>
                <a:latin typeface="Times New Roman" pitchFamily="34" charset="0"/>
                <a:ea typeface="Times New Roman" pitchFamily="34" charset="-122"/>
                <a:cs typeface="Times New Roman" pitchFamily="34" charset="-120"/>
              </a:rPr>
              <a:t>Purina: Nutritious dog and cat food for your pet</a:t>
            </a:r>
            <a:pPr marL="457200" indent="-457200">
              <a:lnSpc>
                <a:spcPct val="200000"/>
              </a:lnSpc>
              <a:buNone/>
            </a:pPr>
            <a:r>
              <a:rPr lang="en-US" sz="1600" dirty="0">
                <a:solidFill>
                  <a:schemeClr val="tx1"/>
                </a:solidFill>
                <a:latin typeface="Times New Roman" pitchFamily="34" charset="0"/>
                <a:ea typeface="Times New Roman" pitchFamily="34" charset="-122"/>
                <a:cs typeface="Times New Roman" pitchFamily="34" charset="-120"/>
              </a:rPr>
              <a:t>. Retrieved October 5, 2026, from https://www.purina.com</a:t>
            </a:r>
            <a:endParaRPr lang="en-US" sz="1600" dirty="0"/>
          </a:p>
          <a:p>
            <a:pPr marL="457200" indent="-457200">
              <a:lnSpc>
                <a:spcPct val="200000"/>
              </a:lnSpc>
              <a:buNone/>
            </a:pPr>
            <a:r>
              <a:rPr lang="en-US" sz="1600" dirty="0">
                <a:solidFill>
                  <a:schemeClr val="tx1"/>
                </a:solidFill>
                <a:latin typeface="Times New Roman" pitchFamily="34" charset="0"/>
                <a:ea typeface="Times New Roman" pitchFamily="34" charset="-122"/>
                <a:cs typeface="Times New Roman" pitchFamily="34" charset="-120"/>
              </a:rPr>
              <a:t>Purina launches ‘I Stand Behind Beneful’ campaign. (2015, June 11). </a:t>
            </a:r>
            <a:pPr marL="457200" indent="-457200">
              <a:lnSpc>
                <a:spcPct val="200000"/>
              </a:lnSpc>
              <a:buNone/>
            </a:pPr>
            <a:r>
              <a:rPr lang="en-US" sz="1600" i="1" dirty="0">
                <a:solidFill>
                  <a:schemeClr val="tx1"/>
                </a:solidFill>
                <a:latin typeface="Times New Roman" pitchFamily="34" charset="0"/>
                <a:ea typeface="Times New Roman" pitchFamily="34" charset="-122"/>
                <a:cs typeface="Times New Roman" pitchFamily="34" charset="-120"/>
              </a:rPr>
              <a:t>PetfoodIndustry</a:t>
            </a:r>
            <a:pPr marL="457200" indent="-457200">
              <a:lnSpc>
                <a:spcPct val="200000"/>
              </a:lnSpc>
              <a:buNone/>
            </a:pPr>
            <a:r>
              <a:rPr lang="en-US" sz="1600" dirty="0">
                <a:solidFill>
                  <a:schemeClr val="tx1"/>
                </a:solidFill>
                <a:latin typeface="Times New Roman" pitchFamily="34" charset="0"/>
                <a:ea typeface="Times New Roman" pitchFamily="34" charset="-122"/>
                <a:cs typeface="Times New Roman" pitchFamily="34" charset="-120"/>
              </a:rPr>
              <a:t>. https://www.petfoodindustry.com/pet-food-market/article/15461104/purina-launches-i-stand-behind-beneful-campaign</a:t>
            </a:r>
            <a:endParaRPr lang="en-US" sz="1600" dirty="0"/>
          </a:p>
          <a:p>
            <a:pPr marL="457200" indent="-457200">
              <a:lnSpc>
                <a:spcPct val="200000"/>
              </a:lnSpc>
              <a:buNone/>
            </a:pPr>
            <a:r>
              <a:rPr lang="en-US" sz="1600" dirty="0">
                <a:solidFill>
                  <a:schemeClr val="tx1"/>
                </a:solidFill>
                <a:latin typeface="Times New Roman" pitchFamily="34" charset="0"/>
                <a:ea typeface="Times New Roman" pitchFamily="34" charset="-122"/>
                <a:cs typeface="Times New Roman" pitchFamily="34" charset="-120"/>
              </a:rPr>
              <a:t>Schoenherr, N. (2011, October 13). Advertising goes to the dogs. </a:t>
            </a:r>
            <a:pPr marL="457200" indent="-457200">
              <a:lnSpc>
                <a:spcPct val="200000"/>
              </a:lnSpc>
              <a:buNone/>
            </a:pPr>
            <a:r>
              <a:rPr lang="en-US" sz="1600" i="1" dirty="0">
                <a:solidFill>
                  <a:schemeClr val="tx1"/>
                </a:solidFill>
                <a:latin typeface="Times New Roman" pitchFamily="34" charset="0"/>
                <a:ea typeface="Times New Roman" pitchFamily="34" charset="-122"/>
                <a:cs typeface="Times New Roman" pitchFamily="34" charset="-120"/>
              </a:rPr>
              <a:t>The Source</a:t>
            </a:r>
            <a:pPr marL="457200" indent="-457200">
              <a:lnSpc>
                <a:spcPct val="200000"/>
              </a:lnSpc>
              <a:buNone/>
            </a:pPr>
            <a:r>
              <a:rPr lang="en-US" sz="1600" dirty="0">
                <a:solidFill>
                  <a:schemeClr val="tx1"/>
                </a:solidFill>
                <a:latin typeface="Times New Roman" pitchFamily="34" charset="0"/>
                <a:ea typeface="Times New Roman" pitchFamily="34" charset="-122"/>
                <a:cs typeface="Times New Roman" pitchFamily="34" charset="-120"/>
              </a:rPr>
              <a:t>. https://source.washu.edu/2011/10/advertising-goes-to-the-dogs/</a:t>
            </a:r>
            <a:endParaRPr lang="en-US" sz="1600" dirty="0"/>
          </a:p>
        </p:txBody>
      </p:sp>
      <p:sp>
        <p:nvSpPr>
          <p:cNvPr id="5"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endParaRPr lang="en-US" sz="1300" dirty="0"/>
          </a:p>
        </p:txBody>
      </p:sp>
      <p:sp>
        <p:nvSpPr>
          <p:cNvPr id="6" name="Text 0"/>
          <p:cNvSpPr/>
          <p:nvPr>
            <p:ph idx="102" type="body" hasCustomPrompt="1"/>
          </p:nvPr>
        </p:nvSpPr>
        <p:spPr>
          <a:xfrm>
            <a:off x="5669280" y="6327648"/>
            <a:ext cx="5971032" cy="320040"/>
          </a:xfrm>
          <a:prstGeom prst="rect">
            <a:avLst/>
          </a:prstGeom>
          <a:noFill/>
          <a:ln/>
        </p:spPr>
        <p:txBody>
          <a:bodyPr wrap="square" lIns="0" tIns="0" rIns="0" bIns="0" rtlCol="0" anchor="ctr"/>
          <a:lstStyle/>
          <a:p>
            <a:pPr algn="r" indent="0" marL="0">
              <a:buNone/>
            </a:pPr>
            <a:endParaRPr lang="en-US" sz="1100" dirty="0"/>
          </a:p>
        </p:txBody>
      </p:sp>
      <p:sp>
        <p:nvSpPr>
          <p:cNvPr id="25" name="Slide Number Placeholder 0"/>
          <p:cNvSpPr>
            <a:spLocks noGrp="1"/>
          </p:cNvSpPr>
          <p:nvPr>
            <p:ph type="sldNum" sz="quarter" idx="4294967295"/>
          </p:nvPr>
        </p:nvSpPr>
        <p:spPr>
          <a:xfrm>
            <a:off x="5486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transition spd="med">
    <p:fade/>
  </p:transition>
</p:sld>
</file>

<file path=ppt/theme/theme1.xml><?xml version="1.0" encoding="utf-8"?>
<a:theme xmlns:a="http://schemas.openxmlformats.org/drawingml/2006/main" name="Beneful Red">
  <a:themeElements>
    <a:clrScheme name="Beneful Red">
      <a:dk1>
        <a:srgbClr val="2A1A1C"/>
      </a:dk1>
      <a:lt1>
        <a:srgbClr val="FFFFFF"/>
      </a:lt1>
      <a:dk2>
        <a:srgbClr val="5E4A4D"/>
      </a:dk2>
      <a:lt2>
        <a:srgbClr val="FCEBED"/>
      </a:lt2>
      <a:accent1>
        <a:srgbClr val="C8102E"/>
      </a:accent1>
      <a:accent2>
        <a:srgbClr val="F9D3D8"/>
      </a:accent2>
      <a:accent3>
        <a:srgbClr val="E04A5F"/>
      </a:accent3>
      <a:accent4>
        <a:srgbClr val="8E0C20"/>
      </a:accent4>
      <a:accent5>
        <a:srgbClr val="F4B6BF"/>
      </a:accent5>
      <a:accent6>
        <a:srgbClr val="5C0A16"/>
      </a:accent6>
      <a:hlink>
        <a:srgbClr val="C8102E"/>
      </a:hlink>
      <a:folHlink>
        <a:srgbClr val="8E0C20"/>
      </a:folHlink>
    </a:clrScheme>
    <a:fontScheme name="Beneful R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Beneful: The Purina Beneful Product Line</dc:title>
  <dc:subject>PptxGenJS Presentation</dc:subject>
  <dc:creator>Greydan Bruckner</dc:creator>
  <cp:lastModifiedBy>Greydan Bruckner</cp:lastModifiedBy>
  <cp:revision>1</cp:revision>
  <dcterms:created xsi:type="dcterms:W3CDTF">2026-10-08T01:18:31Z</dcterms:created>
  <dcterms:modified xsi:type="dcterms:W3CDTF">2026-10-08T01:18:31Z</dcterms:modified>
</cp:coreProperties>
</file>